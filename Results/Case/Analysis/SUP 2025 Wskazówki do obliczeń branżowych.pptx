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73" r:id="rId5"/>
    <p:sldId id="377" r:id="rId6"/>
    <p:sldId id="396" r:id="rId7"/>
    <p:sldId id="374" r:id="rId8"/>
    <p:sldId id="397" r:id="rId9"/>
    <p:sldId id="398" r:id="rId10"/>
    <p:sldId id="399" r:id="rId11"/>
    <p:sldId id="400" r:id="rId12"/>
    <p:sldId id="402" r:id="rId13"/>
    <p:sldId id="401" r:id="rId14"/>
    <p:sldId id="394" r:id="rId15"/>
    <p:sldId id="365" r:id="rId16"/>
    <p:sldId id="403" r:id="rId17"/>
  </p:sldIdLst>
  <p:sldSz cx="12192000" cy="6858000"/>
  <p:notesSz cx="6797675" cy="9874250"/>
  <p:embeddedFontLs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Open Sans Semibold" panose="020B0706030804020204" pitchFamily="34" charset="0"/>
      <p:regular r:id="rId24"/>
      <p:bold r:id="rId25"/>
      <p:italic r:id="rId26"/>
      <p:boldItalic r:id="rId27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19414974-6664-41E7-9CDC-0C5C5B06AB7E}">
          <p14:sldIdLst/>
        </p14:section>
        <p14:section name="empty templates" id="{E73C93B6-4012-4E9E-97BD-F3C295183920}">
          <p14:sldIdLst>
            <p14:sldId id="373"/>
            <p14:sldId id="377"/>
            <p14:sldId id="396"/>
            <p14:sldId id="374"/>
            <p14:sldId id="397"/>
            <p14:sldId id="398"/>
            <p14:sldId id="399"/>
            <p14:sldId id="400"/>
            <p14:sldId id="402"/>
            <p14:sldId id="401"/>
            <p14:sldId id="394"/>
            <p14:sldId id="365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75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EBE"/>
    <a:srgbClr val="FF9933"/>
    <a:srgbClr val="A51C30"/>
    <a:srgbClr val="FFFFFF"/>
    <a:srgbClr val="162447"/>
    <a:srgbClr val="DDBA4D"/>
    <a:srgbClr val="FF5F5E"/>
    <a:srgbClr val="696940"/>
    <a:srgbClr val="5A03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02" autoAdjust="0"/>
    <p:restoredTop sz="94664"/>
  </p:normalViewPr>
  <p:slideViewPr>
    <p:cSldViewPr snapToGrid="0">
      <p:cViewPr varScale="1">
        <p:scale>
          <a:sx n="138" d="100"/>
          <a:sy n="138" d="100"/>
        </p:scale>
        <p:origin x="384" y="184"/>
      </p:cViewPr>
      <p:guideLst>
        <p:guide orient="horz" pos="3022"/>
        <p:guide pos="75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36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5A8E637E-89BF-3A2E-D0D9-950F65E846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6C97E34-0981-5F94-DA3C-178F1923AA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07D1C-E4D4-4341-B965-1A11DDA11589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3B77C07-1725-68DA-4843-9170D21CFE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9881022-7C08-24D4-5869-2065966F10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FE46B-CA11-444D-9FFD-6F43691F82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8869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681E1-122F-4C1A-8DB8-0C8F1899845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28E27-D489-49E3-912D-D4E92DC6D6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078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C8301-AAF4-CC2E-C860-F5B750C8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ymbol zastępczy obrazu slajdu 1">
            <a:extLst>
              <a:ext uri="{FF2B5EF4-FFF2-40B4-BE49-F238E27FC236}">
                <a16:creationId xmlns:a16="http://schemas.microsoft.com/office/drawing/2014/main" id="{604F0807-29C5-C046-2487-CAF180234E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Symbol zastępczy notatek 2">
            <a:extLst>
              <a:ext uri="{FF2B5EF4-FFF2-40B4-BE49-F238E27FC236}">
                <a16:creationId xmlns:a16="http://schemas.microsoft.com/office/drawing/2014/main" id="{657DB8C7-21CC-8026-F1CA-7870B46DB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l-PL" altLang="pl-PL"/>
          </a:p>
        </p:txBody>
      </p:sp>
      <p:sp>
        <p:nvSpPr>
          <p:cNvPr id="5124" name="Symbol zastępczy numeru slajdu 3">
            <a:extLst>
              <a:ext uri="{FF2B5EF4-FFF2-40B4-BE49-F238E27FC236}">
                <a16:creationId xmlns:a16="http://schemas.microsoft.com/office/drawing/2014/main" id="{7BABCFE5-2B11-1F89-6495-41FE354D9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DEB186-FCDB-4C4D-8A4F-09D72DD576B9}" type="slidenum">
              <a:rPr lang="pl-PL" altLang="pl-PL" smtClean="0"/>
              <a:pPr/>
              <a:t>1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884147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A4F7-A4FA-99CE-486F-EABC2784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8405E03-AA14-391D-1C26-A810C7DCE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78DEFDE-1E29-8C32-E0BE-710ED343B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842BEC4-458F-52B8-36EC-0F6436B3A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28E27-D489-49E3-912D-D4E92DC6D636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457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9745-CB3A-FCA7-40A0-6F9D779B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7414F8E-A2F7-6266-12E6-8E35CE2A6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36AC358-6130-FA65-EC38-D675BF2F8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5291DB1-BF97-3FD8-3F5B-39D783005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28E27-D489-49E3-912D-D4E92DC6D636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7274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28E27-D489-49E3-912D-D4E92DC6D636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800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00C600-8FF6-7A97-2012-46DEF47A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0D444D-85FB-D98D-75A1-81F88B069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/>
              <a:t>Kliknij, aby edytować styl wzorca podtytułu</a:t>
            </a:r>
          </a:p>
        </p:txBody>
      </p:sp>
    </p:spTree>
    <p:extLst>
      <p:ext uri="{BB962C8B-B14F-4D97-AF65-F5344CB8AC3E}">
        <p14:creationId xmlns:p14="http://schemas.microsoft.com/office/powerpoint/2010/main" val="164686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784C1-997B-6A92-4BC4-BCD8928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9B5A7-48DC-CADF-2818-03921E6E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3CB1A-D62D-A919-3935-8AFFB23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6CFBA1-B5B0-D735-B002-C627687A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00279D-0C8E-26F0-EFA2-94A51FB5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518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FEC98-68AE-A17A-3E4C-B79FBF37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44E67D-61BE-DD61-B543-B99C2CE3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F15712-CCFE-7FC2-DABD-5619C5DE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F4D2D5-A54C-7FF4-68ED-61D95E6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0500A8-07FB-A348-3ED9-3CD4B53B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8340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08300-10BB-8B35-1299-C9A38D04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C44532-FF0A-D2D9-7B6A-59A30916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5A82E4-DEF8-BBC5-32CE-C6679EA9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28BC0-A5A4-557F-B513-CE7B1D5A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3FF53E-3CD7-777B-1D3F-30F9677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F1D7E5-C72F-2172-2148-037BEFA1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4356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682DB6-0262-619C-15C7-E0E5A10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10DB0A-BC88-E08A-C66A-ACA091E7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A2EF2E-41DA-BAB7-6AAA-4F16A66B2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C169F7-DDC9-2134-BD09-F35D4C56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F6FF1-DCC8-7F35-8D3E-AF860417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E3233AD-71D6-A5DE-E079-E930485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E27CEC9-E93D-F7F6-E605-4316652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B63DCE-61CF-180A-A13E-512FEB6A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1073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391DE-6D7E-5529-13A9-D252894D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79351F6-ACF3-E6EB-9ECD-76299856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16E8048-344D-C9C5-4A95-516A7B83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77A23A4-7CEE-A89A-AEDA-8E119CE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294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E8E01F-F574-FDEB-D48F-D0A0138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71F7EB-DB47-CB23-3AED-BE559900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8E8E7C-8373-E77F-9964-4EA50BE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436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23A87-C7B6-45A9-E7D1-DA969C86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CA3F37-968F-654B-1DB7-B9B5C1B4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84A5BC2-A2DA-F657-0DC7-A08C4984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7363BF-C7BF-F582-C148-A4BA0A29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3A24784-3E5C-2007-12D8-DFDF98E9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FE686C-EA9E-43E0-6069-39455DF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411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BF02C6-A6D2-FF1C-6B4A-B8B10704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FEBA59-63E7-3B39-3736-183495937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CC5F966-3644-137D-94D3-BE4B3145F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32053C-DEE4-B9A7-F3E4-8F1436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52A1D4-25C1-A263-F37D-3D51B94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89E317-0255-0D92-DCA2-71DEE28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6513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4610B-74C9-8D98-B107-8C500DCB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548815-6368-F86D-7B0F-8FFCEE5E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A208B-EF84-9317-B8D6-950B381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5AA465-2E19-FF4D-A81F-773B4A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6A29DE-825A-79D4-5825-D4A5E19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6015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B1B4A3D-6B2A-AA3C-4E40-40EEBC32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462A6D-B658-E7AE-6FEB-55CC04A8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31249-CE0B-F3C2-36BD-9F7A560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6F213C-CB12-1D41-C48C-D98201B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68A6BF-2D89-5E91-2B1E-2FE5040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9398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A8ED001-1A35-B962-25E5-5BC770DA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B18F7B-AD4E-3756-D770-80C14663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6B7FBB-357F-100F-5CA0-3664DAFB1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340CE9-A27D-7E3C-09B5-29DEDD6A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E6980-B34F-8DF3-BA3B-E899AA09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453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81E7-3BFE-9D8A-3E79-E2859BF3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Podtytuł 2">
            <a:extLst>
              <a:ext uri="{FF2B5EF4-FFF2-40B4-BE49-F238E27FC236}">
                <a16:creationId xmlns:a16="http://schemas.microsoft.com/office/drawing/2014/main" id="{43A23E61-BFC7-6431-AC4D-399C0C484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3250"/>
            <a:ext cx="9144000" cy="1535286"/>
          </a:xfrm>
          <a:solidFill>
            <a:schemeClr val="bg1"/>
          </a:solidFill>
        </p:spPr>
        <p:txBody>
          <a:bodyPr anchor="ctr"/>
          <a:lstStyle/>
          <a:p>
            <a:r>
              <a:rPr lang="pl-PL" altLang="pl-PL" sz="2000" b="1" dirty="0">
                <a:solidFill>
                  <a:srgbClr val="002060"/>
                </a:solidFill>
              </a:rPr>
              <a:t>Prof. dr hab. Jerzy Cieślik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Dr Paweł Pietruszewski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Katedra Przedsiębiorczości i Etyki w Biznesie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Akademia Leona Koźmińskiego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917AC69-0335-3B64-A6B9-4CB0E69D9D55}"/>
              </a:ext>
            </a:extLst>
          </p:cNvPr>
          <p:cNvSpPr/>
          <p:nvPr/>
        </p:nvSpPr>
        <p:spPr>
          <a:xfrm>
            <a:off x="1441450" y="1289636"/>
            <a:ext cx="9144000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STRATEGIE UMIĘDZYNARODOWIENIA PRZEDSIĘBIORSTW</a:t>
            </a:r>
          </a:p>
        </p:txBody>
      </p:sp>
      <p:sp>
        <p:nvSpPr>
          <p:cNvPr id="4100" name="Tytuł 1">
            <a:extLst>
              <a:ext uri="{FF2B5EF4-FFF2-40B4-BE49-F238E27FC236}">
                <a16:creationId xmlns:a16="http://schemas.microsoft.com/office/drawing/2014/main" id="{87E9217A-2EC5-F90B-FA85-99BD2685C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9700"/>
            <a:ext cx="9144000" cy="1854199"/>
          </a:xfrm>
        </p:spPr>
        <p:txBody>
          <a:bodyPr>
            <a:normAutofit fontScale="90000"/>
          </a:bodyPr>
          <a:lstStyle/>
          <a:p>
            <a:b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b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  <a:t>Projekt analityczny</a:t>
            </a:r>
            <a:b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  <a:t>Analizy branżowe realizowane przez studentów</a:t>
            </a:r>
            <a:b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endParaRPr lang="pl-PL" altLang="pl-PL" sz="3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89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909B-07B4-5AA5-2D39-2939DB3D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A003CF-B8F2-0533-F240-F067BAED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125"/>
          </a:xfrm>
        </p:spPr>
        <p:txBody>
          <a:bodyPr/>
          <a:lstStyle/>
          <a:p>
            <a:r>
              <a:rPr lang="pl-PL" sz="3600" dirty="0">
                <a:solidFill>
                  <a:schemeClr val="accent3">
                    <a:lumMod val="50000"/>
                  </a:schemeClr>
                </a:solidFill>
              </a:rPr>
              <a:t>Tematy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A05924-7548-8BBB-C40D-CE67F0036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250"/>
            <a:ext cx="10515600" cy="46847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Projekt analityczny obejmuje doskonalenie umiejętności analizy danych z wykorzystaniem dostępnych narzędzi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Stosunkowo niewielki zbiór w analizie branży (ok. 100 firm) – możliwe zastosowanie Excel w formie uproszczonej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W przypadku większych zbiorów konieczne korzystanie z zaawansowanych funkcji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Wskazówki w dwóch wariantach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Podstawowym prof. Jerzy Cieślik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Zaawansowanym dr Paweł Pietruszewski</a:t>
            </a:r>
          </a:p>
        </p:txBody>
      </p:sp>
    </p:spTree>
    <p:extLst>
      <p:ext uri="{BB962C8B-B14F-4D97-AF65-F5344CB8AC3E}">
        <p14:creationId xmlns:p14="http://schemas.microsoft.com/office/powerpoint/2010/main" val="177985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47BE-7A89-CE57-F855-DBC0113C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20759EAE-F173-AE15-B05B-9B35852F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2" y="1215956"/>
            <a:ext cx="6857998" cy="3336993"/>
          </a:xfrm>
        </p:spPr>
        <p:txBody>
          <a:bodyPr>
            <a:normAutofit/>
          </a:bodyPr>
          <a:lstStyle/>
          <a:p>
            <a:pPr algn="ctr"/>
            <a:r>
              <a:rPr lang="pl-PL" sz="3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Wariant podstawowy</a:t>
            </a:r>
            <a:endParaRPr lang="pl-PL" sz="3600" i="1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Obraz 1" descr="Obraz zawierający zrzut ekranu, Grafika, Czcionka, projekt graficzny&#10;&#10;Opis wygenerowany automatycznie">
            <a:extLst>
              <a:ext uri="{FF2B5EF4-FFF2-40B4-BE49-F238E27FC236}">
                <a16:creationId xmlns:a16="http://schemas.microsoft.com/office/drawing/2014/main" id="{A53509B3-D1B3-A0EF-2EB2-047D28036A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66" y="359880"/>
            <a:ext cx="673341" cy="856076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805C09BE-F154-C060-ABCB-2AFC6EAEA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6546" y="564182"/>
            <a:ext cx="1523017" cy="447471"/>
          </a:xfrm>
          <a:prstGeom prst="rect">
            <a:avLst/>
          </a:prstGeom>
        </p:spPr>
      </p:pic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9018C03D-4F7A-5A6E-FBD0-23155225B8E1}"/>
              </a:ext>
            </a:extLst>
          </p:cNvPr>
          <p:cNvCxnSpPr/>
          <p:nvPr/>
        </p:nvCxnSpPr>
        <p:spPr>
          <a:xfrm>
            <a:off x="1235676" y="359880"/>
            <a:ext cx="0" cy="856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55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BC85-BCC4-5D6A-99F2-4B19DE4E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E8D700-50B0-6019-9418-AD3667C0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Wskazówki ogólne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9029C7-D585-D480-66A4-1D39A7537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Korzystamy z pliku branżowego w wersji  podstawowej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Dane ekonomiczne podane w tysiącach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Generalne zasady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Arkusz bazowy wstępnie przetwarzamy na potrzeby konkretnego bloku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Następnie sumujemy dane do zbiorczej tabelki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Sugerowany format „Plik Excel do obliczeń”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Na podstawie danych w tabelce możemy wygenerować diagram, wykres, itp.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 Przy niektórych obliczeniach mogą się pojawić braki danych. Wtedy eliminujemy konkretną firmę ale tylko do konkretnego obliczenia</a:t>
            </a:r>
            <a:br>
              <a:rPr lang="pl-PL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59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3008-70AB-819E-E4BF-68EB3529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674F0C-C058-1398-E339-FCEC6342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Blok 1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8AA628-3F0A-F6C8-581E-F710096DF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Opieramy się wyłącznie na danych z 2023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Mamy już kolumnę własności K/Z krajowa/zagraniczna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Potrzebujemy wyliczyć wskaźnik intensywności eksportu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Tworzymy nową kolumnę IE. Dzielimy eksport do przychodów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Sortujemy zbiór według intensywności eksportu i tworzymy nową kolumnę przedział intensywności IEP. Oznaczamy przedziały od 1 do 5 jak w Tab.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Ponownie sortujemy: poziom 1: K/Z, poziom 2 IEP</a:t>
            </a:r>
          </a:p>
          <a:p>
            <a:pPr marL="457200" lvl="1" indent="0">
              <a:buNone/>
            </a:pPr>
            <a:endParaRPr lang="pl-PL" dirty="0"/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Zagregowane dane o liczbie firm, sprzedaży i eksporcie wprowadzamy do Tab. 1.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Trzeba pamiętać, że wyjściowe dane są w tys. a docelowe w mld.</a:t>
            </a:r>
          </a:p>
          <a:p>
            <a:pPr marL="457200" lvl="1" indent="0">
              <a:buNone/>
            </a:pPr>
            <a:br>
              <a:rPr lang="pl-PL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2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88148-18CF-6868-C76A-F404DE1E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0373FC-626E-0083-D065-8BA99F0D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Blok 2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AA42EDE-FFC1-69F4-FD31-135B1472D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</a:t>
            </a:r>
            <a:r>
              <a:rPr lang="pl-PL" sz="2800" dirty="0"/>
              <a:t>Także opieramy się wyłącznie na danych z 2023 Sortujemy dane według własności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Sumujemy wszystkie wielkości w 2023 r oddzielnie dla firm krajowych i zagranicznych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Wyliczamy wskaźniki ekonomiczno-finansowe, zgodnie z przyjętymi definicjami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Wprowadzamy dane do zbiorczej Tab. 2. </a:t>
            </a:r>
          </a:p>
          <a:p>
            <a:pPr marL="0" indent="0">
              <a:buNone/>
            </a:pP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74211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3CF5-2820-5648-EAEE-63FA9FBD9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D9D7C2-0EC7-1906-161D-34705880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Blok 3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F246F9-810F-6BEE-97D7-64DDA6407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</a:t>
            </a:r>
            <a:r>
              <a:rPr lang="pl-PL" sz="2800" dirty="0"/>
              <a:t>W tym Bloku kluczowe jest wyliczenie poziomu odporności i określenie typów odporności N1, N2, R1, R2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Wyliczamy dla każdej firmy wskaźnik Przychody 2023/Przychody 2019 w nowej kolumnie WP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Sortujemy zbiór narastająco wg WP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Przypisujemy odpowiednio N1, N2, R1, R2 w oddzielnej kolumnie ODP wykorzystując „Progi odporności” w cenach bieżących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Sumujemy w Tab.3 odpowiednio wszystkie wielkości (dane  2023)</a:t>
            </a:r>
          </a:p>
        </p:txBody>
      </p:sp>
    </p:spTree>
    <p:extLst>
      <p:ext uri="{BB962C8B-B14F-4D97-AF65-F5344CB8AC3E}">
        <p14:creationId xmlns:p14="http://schemas.microsoft.com/office/powerpoint/2010/main" val="590470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465C-1E72-305F-66E7-B50E9D27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C7ABDE-C421-7F68-A667-7D13476A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Blok 4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FFFA3C-25A4-CE3C-4565-DE8697749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</a:t>
            </a:r>
            <a:r>
              <a:rPr lang="pl-PL" sz="2800" dirty="0"/>
              <a:t>Wykorzystujemy wyliczony w Bloku 3 typ odporności N1, N2, R1,R2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Sortujemy dane według typów odporności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Sumujemy Przychody ze sprzedaży w latach 2019,2020, 2021, 2022, 2023 oddzielnie dla każdego typu odporności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Teraz przechodzimy na ceny stałe dzieląc zagregowane wartości sprzedaży w kolejnych latach przez skumulowany wskaźnik inflacji w „Pliku Excel do obliczeń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800" dirty="0"/>
              <a:t> Wprowadzamy dane w % do tabelki 4</a:t>
            </a:r>
          </a:p>
          <a:p>
            <a:pPr>
              <a:buFont typeface="Wingdings" panose="05000000000000000000" pitchFamily="2" charset="2"/>
              <a:buChar char="q"/>
            </a:pP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109617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5AF1-D98E-0945-325B-BEEF59CE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C0DEDCC1-DB0A-FE4D-0DBC-B15316E3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2" y="1215956"/>
            <a:ext cx="6857998" cy="3336993"/>
          </a:xfrm>
        </p:spPr>
        <p:txBody>
          <a:bodyPr>
            <a:normAutofit/>
          </a:bodyPr>
          <a:lstStyle/>
          <a:p>
            <a:pPr algn="ctr"/>
            <a:r>
              <a:rPr lang="pl-PL" sz="3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Wariant zaawansowany</a:t>
            </a:r>
            <a:endParaRPr lang="pl-PL" sz="3600" i="1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Obraz 1" descr="Obraz zawierający zrzut ekranu, Grafika, Czcionka, projekt graficzny&#10;&#10;Opis wygenerowany automatycznie">
            <a:extLst>
              <a:ext uri="{FF2B5EF4-FFF2-40B4-BE49-F238E27FC236}">
                <a16:creationId xmlns:a16="http://schemas.microsoft.com/office/drawing/2014/main" id="{3D955D86-5B58-EC23-786B-E33E5323FFD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66" y="359880"/>
            <a:ext cx="673341" cy="856076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84FC83BB-54F3-6D5B-0BD1-E042981EE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6546" y="564182"/>
            <a:ext cx="1523017" cy="447471"/>
          </a:xfrm>
          <a:prstGeom prst="rect">
            <a:avLst/>
          </a:prstGeom>
        </p:spPr>
      </p:pic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9B9DF03A-9408-D197-DED6-B60CC8C20F12}"/>
              </a:ext>
            </a:extLst>
          </p:cNvPr>
          <p:cNvCxnSpPr/>
          <p:nvPr/>
        </p:nvCxnSpPr>
        <p:spPr>
          <a:xfrm>
            <a:off x="1235676" y="359880"/>
            <a:ext cx="0" cy="856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78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A98D-739D-2E4A-6313-2AF39107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0AEA4C-5B68-C52B-AEF9-571B7974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Wskazówki ogólne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AC8FA3-0ECB-EA10-45D5-02EE96F1C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sz="1800" dirty="0"/>
              <a:t>Pliki panelowe vs. szerokie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1800" dirty="0"/>
              <a:t>Korzystanie z „</a:t>
            </a:r>
            <a:r>
              <a:rPr lang="pl-PL" sz="1800" dirty="0" err="1"/>
              <a:t>pivot</a:t>
            </a:r>
            <a:r>
              <a:rPr lang="pl-PL" sz="1800" dirty="0"/>
              <a:t> </a:t>
            </a:r>
            <a:r>
              <a:rPr lang="pl-PL" sz="1800" dirty="0" err="1"/>
              <a:t>table</a:t>
            </a:r>
            <a:r>
              <a:rPr lang="pl-PL" sz="1800" dirty="0"/>
              <a:t>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1800" dirty="0" err="1"/>
              <a:t>Python</a:t>
            </a:r>
            <a:r>
              <a:rPr lang="pl-PL" sz="1800" dirty="0"/>
              <a:t> and AI w Excelu</a:t>
            </a:r>
          </a:p>
          <a:p>
            <a:r>
              <a:rPr lang="en-GB" sz="1800" dirty="0"/>
              <a:t>Analiza </a:t>
            </a:r>
            <a:r>
              <a:rPr lang="en-GB" sz="1800" dirty="0" err="1"/>
              <a:t>finansowa</a:t>
            </a:r>
            <a:endParaRPr lang="en-GB" sz="1800" dirty="0"/>
          </a:p>
          <a:p>
            <a:pPr lvl="1"/>
            <a:r>
              <a:rPr lang="en-GB" sz="1800" dirty="0"/>
              <a:t>ROS; ROA; ROE</a:t>
            </a:r>
          </a:p>
          <a:p>
            <a:pPr lvl="1"/>
            <a:r>
              <a:rPr lang="en-GB" sz="1800" dirty="0"/>
              <a:t>Zysk </a:t>
            </a:r>
            <a:r>
              <a:rPr lang="en-GB" sz="1800" dirty="0" err="1"/>
              <a:t>netto</a:t>
            </a:r>
            <a:r>
              <a:rPr lang="en-GB" sz="1800" dirty="0"/>
              <a:t> w </a:t>
            </a:r>
            <a:r>
              <a:rPr lang="en-GB" sz="1800" dirty="0" err="1"/>
              <a:t>mianowniku</a:t>
            </a:r>
            <a:endParaRPr lang="en-GB" sz="1800" dirty="0"/>
          </a:p>
          <a:p>
            <a:pPr lvl="2"/>
            <a:r>
              <a:rPr lang="en-GB" sz="1400" dirty="0"/>
              <a:t>W </a:t>
            </a:r>
            <a:r>
              <a:rPr lang="en-GB" sz="1400" dirty="0" err="1"/>
              <a:t>przypadku</a:t>
            </a:r>
            <a:r>
              <a:rPr lang="en-GB" sz="1400" dirty="0"/>
              <a:t> ROS </a:t>
            </a:r>
            <a:r>
              <a:rPr lang="en-GB" sz="1400" dirty="0" err="1"/>
              <a:t>stosuje</a:t>
            </a:r>
            <a:r>
              <a:rPr lang="en-GB" sz="1400" dirty="0"/>
              <a:t> </a:t>
            </a:r>
            <a:r>
              <a:rPr lang="en-GB" sz="1400" dirty="0" err="1"/>
              <a:t>się</a:t>
            </a:r>
            <a:r>
              <a:rPr lang="en-GB" sz="1400" dirty="0"/>
              <a:t> </a:t>
            </a:r>
            <a:r>
              <a:rPr lang="en-GB" sz="1400" dirty="0" err="1"/>
              <a:t>zazwyczaj</a:t>
            </a:r>
            <a:r>
              <a:rPr lang="en-GB" sz="1400" dirty="0"/>
              <a:t> </a:t>
            </a:r>
            <a:r>
              <a:rPr lang="en-GB" sz="1400" dirty="0" err="1"/>
              <a:t>wynik</a:t>
            </a:r>
            <a:r>
              <a:rPr lang="en-GB" sz="1400" dirty="0"/>
              <a:t> </a:t>
            </a:r>
            <a:r>
              <a:rPr lang="en-GB" sz="1400" dirty="0" err="1"/>
              <a:t>operacyjny</a:t>
            </a:r>
            <a:r>
              <a:rPr lang="en-GB" sz="1400" dirty="0"/>
              <a:t>, </a:t>
            </a:r>
            <a:r>
              <a:rPr lang="en-GB" sz="1400" dirty="0" err="1"/>
              <a:t>można</a:t>
            </a:r>
            <a:r>
              <a:rPr lang="en-GB" sz="1400" dirty="0"/>
              <a:t> </a:t>
            </a:r>
            <a:r>
              <a:rPr lang="en-GB" sz="1400" dirty="0" err="1"/>
              <a:t>też</a:t>
            </a:r>
            <a:r>
              <a:rPr lang="en-GB" sz="1400" dirty="0"/>
              <a:t> w </a:t>
            </a:r>
            <a:r>
              <a:rPr lang="en-GB" sz="1400" dirty="0" err="1"/>
              <a:t>przypadku</a:t>
            </a:r>
            <a:r>
              <a:rPr lang="en-GB" sz="1400" dirty="0"/>
              <a:t> ROA</a:t>
            </a:r>
          </a:p>
          <a:p>
            <a:pPr lvl="2"/>
            <a:r>
              <a:rPr lang="en-GB" sz="1400" dirty="0" err="1"/>
              <a:t>Wynik</a:t>
            </a:r>
            <a:r>
              <a:rPr lang="en-GB" sz="1400" dirty="0"/>
              <a:t> </a:t>
            </a:r>
            <a:r>
              <a:rPr lang="en-GB" sz="1400" dirty="0" err="1"/>
              <a:t>operacyjny</a:t>
            </a:r>
            <a:r>
              <a:rPr lang="en-GB" sz="1400" dirty="0"/>
              <a:t> jest </a:t>
            </a:r>
            <a:r>
              <a:rPr lang="en-GB" sz="1400" dirty="0" err="1"/>
              <a:t>bardziej</a:t>
            </a:r>
            <a:r>
              <a:rPr lang="en-GB" sz="1400" dirty="0"/>
              <a:t> </a:t>
            </a:r>
            <a:r>
              <a:rPr lang="en-GB" sz="1400" dirty="0" err="1"/>
              <a:t>wrażliwy</a:t>
            </a:r>
            <a:r>
              <a:rPr lang="en-GB" sz="1400" dirty="0"/>
              <a:t> </a:t>
            </a:r>
            <a:r>
              <a:rPr lang="en-GB" sz="1400" dirty="0" err="1"/>
              <a:t>na</a:t>
            </a:r>
            <a:r>
              <a:rPr lang="en-GB" sz="1400" dirty="0"/>
              <a:t> </a:t>
            </a:r>
            <a:r>
              <a:rPr lang="en-GB" sz="1400" dirty="0" err="1"/>
              <a:t>standardy</a:t>
            </a:r>
            <a:r>
              <a:rPr lang="en-GB" sz="1400" dirty="0"/>
              <a:t> </a:t>
            </a:r>
            <a:r>
              <a:rPr lang="en-GB" sz="1400" dirty="0" err="1"/>
              <a:t>rachunkowe</a:t>
            </a:r>
            <a:endParaRPr lang="en-GB" sz="1400" dirty="0"/>
          </a:p>
          <a:p>
            <a:r>
              <a:rPr lang="en-GB" sz="1800" b="1" dirty="0" err="1"/>
              <a:t>Klasyczna</a:t>
            </a:r>
            <a:r>
              <a:rPr lang="en-GB" sz="1800" b="1" dirty="0"/>
              <a:t> </a:t>
            </a:r>
            <a:r>
              <a:rPr lang="en-GB" sz="1800" b="1" dirty="0" err="1"/>
              <a:t>wersja</a:t>
            </a:r>
            <a:r>
              <a:rPr lang="en-GB" sz="1800" b="1" dirty="0"/>
              <a:t> </a:t>
            </a:r>
            <a:r>
              <a:rPr lang="en-GB" sz="1800" b="1" dirty="0" err="1"/>
              <a:t>równania</a:t>
            </a:r>
            <a:r>
              <a:rPr lang="en-GB" sz="1800" b="1" dirty="0"/>
              <a:t> Du Ponta:</a:t>
            </a:r>
            <a:endParaRPr lang="en-GB" sz="1800" dirty="0"/>
          </a:p>
          <a:p>
            <a:pPr lvl="1"/>
            <a:r>
              <a:rPr lang="en-GB" sz="1800" b="1" dirty="0"/>
              <a:t>ROE = Net Profit Margin × Asset Turnover × Financial Leverage</a:t>
            </a:r>
          </a:p>
          <a:p>
            <a:r>
              <a:rPr lang="en-GB" sz="1800" dirty="0" err="1"/>
              <a:t>Praca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zbiorze</a:t>
            </a:r>
            <a:r>
              <a:rPr lang="en-GB" sz="1800" dirty="0"/>
              <a:t> </a:t>
            </a:r>
            <a:r>
              <a:rPr lang="en-GB" sz="1800" dirty="0" err="1"/>
              <a:t>danych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870405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24C46-606C-1263-6E4A-483269DA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9266679C-1700-1168-00D4-63147CED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2" y="1215956"/>
            <a:ext cx="6857998" cy="3336993"/>
          </a:xfrm>
        </p:spPr>
        <p:txBody>
          <a:bodyPr>
            <a:normAutofit/>
          </a:bodyPr>
          <a:lstStyle/>
          <a:p>
            <a:pPr algn="ctr"/>
            <a:r>
              <a:rPr lang="pl-PL" sz="3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Pytania, dyskusja</a:t>
            </a:r>
            <a:endParaRPr lang="pl-PL" sz="3600" i="1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Obraz 1" descr="Obraz zawierający zrzut ekranu, Grafika, Czcionka, projekt graficzny&#10;&#10;Opis wygenerowany automatycznie">
            <a:extLst>
              <a:ext uri="{FF2B5EF4-FFF2-40B4-BE49-F238E27FC236}">
                <a16:creationId xmlns:a16="http://schemas.microsoft.com/office/drawing/2014/main" id="{FFB8EC74-9A8C-8531-0AF0-437E7E80D6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66" y="359880"/>
            <a:ext cx="673341" cy="856076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EC2B67DB-FDEE-4742-D2B4-F9BB8BA2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6546" y="564182"/>
            <a:ext cx="1523017" cy="447471"/>
          </a:xfrm>
          <a:prstGeom prst="rect">
            <a:avLst/>
          </a:prstGeom>
        </p:spPr>
      </p:pic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05FFB16B-F393-8A4E-7202-CCDE2849DBA5}"/>
              </a:ext>
            </a:extLst>
          </p:cNvPr>
          <p:cNvCxnSpPr/>
          <p:nvPr/>
        </p:nvCxnSpPr>
        <p:spPr>
          <a:xfrm>
            <a:off x="1235676" y="359880"/>
            <a:ext cx="0" cy="856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5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EC319E85-B3CA-C6BD-3374-5ED0CB74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3">
                    <a:lumMod val="50000"/>
                  </a:schemeClr>
                </a:solidFill>
              </a:rPr>
              <a:t>Prof. Jerzy Cieślik</a:t>
            </a:r>
            <a:endParaRPr lang="pl-PL" sz="3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Symbol zastępczy zawartości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4000" dirty="0"/>
              <a:t> </a:t>
            </a:r>
          </a:p>
        </p:txBody>
      </p:sp>
      <p:sp>
        <p:nvSpPr>
          <p:cNvPr id="2" name="Symbol zastępczy numeru slajd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F08B-398F-4A13-BCD3-80E25C45207C}" type="slidenum">
              <a:rPr lang="pl-PL" smtClean="0"/>
              <a:pPr/>
              <a:t>12</a:t>
            </a:fld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5D7D368-82DD-6F8B-9393-0B09B877FC00}"/>
              </a:ext>
            </a:extLst>
          </p:cNvPr>
          <p:cNvSpPr txBox="1"/>
          <p:nvPr/>
        </p:nvSpPr>
        <p:spPr>
          <a:xfrm>
            <a:off x="2423592" y="1582341"/>
            <a:ext cx="7488832" cy="389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altLang="pl-PL" sz="2000" dirty="0">
                <a:solidFill>
                  <a:schemeClr val="accent1">
                    <a:lumMod val="50000"/>
                  </a:schemeClr>
                </a:solidFill>
              </a:rPr>
              <a:t>Until 1989 Professor </a:t>
            </a:r>
            <a:r>
              <a:rPr lang="pl-PL" altLang="pl-PL" sz="2000" dirty="0">
                <a:solidFill>
                  <a:schemeClr val="accent1">
                    <a:lumMod val="50000"/>
                  </a:schemeClr>
                </a:solidFill>
              </a:rPr>
              <a:t>of International Business </a:t>
            </a:r>
            <a:r>
              <a:rPr lang="en-US" altLang="pl-PL" sz="2000" dirty="0">
                <a:solidFill>
                  <a:schemeClr val="accent1">
                    <a:lumMod val="50000"/>
                  </a:schemeClr>
                </a:solidFill>
              </a:rPr>
              <a:t>at the Warsaw School of Economics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pl-PL" sz="2000" dirty="0">
                <a:solidFill>
                  <a:schemeClr val="accent1">
                    <a:lumMod val="50000"/>
                  </a:schemeClr>
                </a:solidFill>
              </a:rPr>
              <a:t>1990 – 2003 – founder, senior partner and CEO of Ernst &amp; Young Poland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pl-PL" altLang="pl-PL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pl-PL" sz="2000" dirty="0">
                <a:solidFill>
                  <a:schemeClr val="accent1">
                    <a:lumMod val="50000"/>
                  </a:schemeClr>
                </a:solidFill>
              </a:rPr>
              <a:t>Active participant in the transformation and privatization of the Polish enterprise sector. Licensed tax advisor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pl-PL" sz="2000" dirty="0">
                <a:solidFill>
                  <a:schemeClr val="accent1">
                    <a:lumMod val="50000"/>
                  </a:schemeClr>
                </a:solidFill>
              </a:rPr>
              <a:t> In 2004 retired from business and joined Kozminski as „pracademic”</a:t>
            </a:r>
            <a:r>
              <a:rPr lang="pl-PL" altLang="pl-PL" sz="20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altLang="pl-PL" sz="2000" dirty="0">
                <a:solidFill>
                  <a:schemeClr val="accent1">
                    <a:lumMod val="50000"/>
                  </a:schemeClr>
                </a:solidFill>
              </a:rPr>
              <a:t>Director Center for Entrepreneurship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AU" altLang="pl-PL" sz="2000" dirty="0">
                <a:solidFill>
                  <a:schemeClr val="accent1">
                    <a:lumMod val="50000"/>
                  </a:schemeClr>
                </a:solidFill>
              </a:rPr>
              <a:t>Specializing</a:t>
            </a:r>
            <a:r>
              <a:rPr lang="pl-PL" altLang="pl-PL" sz="2000" dirty="0">
                <a:solidFill>
                  <a:schemeClr val="accent1">
                    <a:lumMod val="50000"/>
                  </a:schemeClr>
                </a:solidFill>
              </a:rPr>
              <a:t> in entrepreneurship and international business</a:t>
            </a:r>
            <a:endParaRPr lang="en-US" altLang="pl-PL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53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EC319E85-B3CA-C6BD-3374-5ED0CB74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7829"/>
          </a:xfrm>
        </p:spPr>
        <p:txBody>
          <a:bodyPr/>
          <a:lstStyle/>
          <a:p>
            <a:r>
              <a:rPr lang="pl-PL" sz="3600" dirty="0">
                <a:solidFill>
                  <a:schemeClr val="accent3">
                    <a:lumMod val="50000"/>
                  </a:schemeClr>
                </a:solidFill>
              </a:rPr>
              <a:t>Dr Paweł Pietruszewski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4000" dirty="0"/>
              <a:t> </a:t>
            </a:r>
          </a:p>
        </p:txBody>
      </p:sp>
      <p:sp>
        <p:nvSpPr>
          <p:cNvPr id="2" name="Symbol zastępczy numeru slajd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F08B-398F-4A13-BCD3-80E25C45207C}" type="slidenum">
              <a:rPr lang="pl-PL" smtClean="0"/>
              <a:pPr/>
              <a:t>13</a:t>
            </a:fld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5D7D368-82DD-6F8B-9393-0B09B877FC00}"/>
              </a:ext>
            </a:extLst>
          </p:cNvPr>
          <p:cNvSpPr txBox="1"/>
          <p:nvPr/>
        </p:nvSpPr>
        <p:spPr>
          <a:xfrm>
            <a:off x="2423592" y="1582341"/>
            <a:ext cx="7488832" cy="4505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30 years of experience in international finance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10 years financial advisory: stock-broker, Arthur Andersen,  PwC, KPMG, IBM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20 years management in finance: Avon, Oriflame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2015 - PhD in International Management – </a:t>
            </a:r>
            <a:r>
              <a:rPr lang="en-GB" sz="2000" i="1" noProof="0" dirty="0">
                <a:solidFill>
                  <a:schemeClr val="accent1">
                    <a:lumMod val="50000"/>
                  </a:schemeClr>
                </a:solidFill>
              </a:rPr>
              <a:t>“Culturisation”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 2016-2024 – lived in Switzerland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2024 launched next Thirty Years Project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Resilience Institute Warsaw as of September 2023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Kozminski University as of September 1</a:t>
            </a:r>
            <a:r>
              <a:rPr lang="en-GB" sz="2000" baseline="30000" noProof="0" dirty="0">
                <a:solidFill>
                  <a:schemeClr val="accent1">
                    <a:lumMod val="50000"/>
                  </a:schemeClr>
                </a:solidFill>
              </a:rPr>
              <a:t>st</a:t>
            </a: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 2025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noProof="0" dirty="0">
                <a:solidFill>
                  <a:schemeClr val="accent1">
                    <a:lumMod val="50000"/>
                  </a:schemeClr>
                </a:solidFill>
              </a:rPr>
              <a:t>Specializing in entrepreneurship, international business and finance</a:t>
            </a:r>
          </a:p>
        </p:txBody>
      </p:sp>
    </p:spTree>
    <p:extLst>
      <p:ext uri="{BB962C8B-B14F-4D97-AF65-F5344CB8AC3E}">
        <p14:creationId xmlns:p14="http://schemas.microsoft.com/office/powerpoint/2010/main" val="80767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Kozminski colorurs">
      <a:dk1>
        <a:srgbClr val="030928"/>
      </a:dk1>
      <a:lt1>
        <a:srgbClr val="EFF2FC"/>
      </a:lt1>
      <a:dk2>
        <a:srgbClr val="030928"/>
      </a:dk2>
      <a:lt2>
        <a:srgbClr val="EFF2FC"/>
      </a:lt2>
      <a:accent1>
        <a:srgbClr val="030928"/>
      </a:accent1>
      <a:accent2>
        <a:srgbClr val="B4865E"/>
      </a:accent2>
      <a:accent3>
        <a:srgbClr val="C5A181"/>
      </a:accent3>
      <a:accent4>
        <a:srgbClr val="CFB399"/>
      </a:accent4>
      <a:accent5>
        <a:srgbClr val="DAC4B0"/>
      </a:accent5>
      <a:accent6>
        <a:srgbClr val="EBDFD5"/>
      </a:accent6>
      <a:hlink>
        <a:srgbClr val="EFF2FC"/>
      </a:hlink>
      <a:folHlink>
        <a:srgbClr val="EFF2FC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8BEFE3277A8C54FB1ED9FD83A757ADB" ma:contentTypeVersion="16" ma:contentTypeDescription="Utwórz nowy dokument." ma:contentTypeScope="" ma:versionID="b91e444bf09d097b0a4245f61c1588b0">
  <xsd:schema xmlns:xsd="http://www.w3.org/2001/XMLSchema" xmlns:xs="http://www.w3.org/2001/XMLSchema" xmlns:p="http://schemas.microsoft.com/office/2006/metadata/properties" xmlns:ns2="8a543412-5ade-481b-8e1c-5482d6b2f492" xmlns:ns3="e5e97e90-43f6-4a92-be9d-6dcf1e535517" targetNamespace="http://schemas.microsoft.com/office/2006/metadata/properties" ma:root="true" ma:fieldsID="7c579391e1eef2bb2c6434237f5a4d68" ns2:_="" ns3:_="">
    <xsd:import namespace="8a543412-5ade-481b-8e1c-5482d6b2f492"/>
    <xsd:import namespace="e5e97e90-43f6-4a92-be9d-6dcf1e5355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43412-5ade-481b-8e1c-5482d6b2f4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Tagi obrazów" ma:readOnly="false" ma:fieldId="{5cf76f15-5ced-4ddc-b409-7134ff3c332f}" ma:taxonomyMulti="true" ma:sspId="62f00050-6f92-4a47-8685-96d6877a5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97e90-43f6-4a92-be9d-6dcf1e53551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ae02345-ad88-4113-9ddf-ea56e3b31c44}" ma:internalName="TaxCatchAll" ma:showField="CatchAllData" ma:web="e5e97e90-43f6-4a92-be9d-6dcf1e5355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543412-5ade-481b-8e1c-5482d6b2f492">
      <Terms xmlns="http://schemas.microsoft.com/office/infopath/2007/PartnerControls"/>
    </lcf76f155ced4ddcb4097134ff3c332f>
    <TaxCatchAll xmlns="e5e97e90-43f6-4a92-be9d-6dcf1e535517" xsi:nil="true"/>
  </documentManagement>
</p:properties>
</file>

<file path=customXml/itemProps1.xml><?xml version="1.0" encoding="utf-8"?>
<ds:datastoreItem xmlns:ds="http://schemas.openxmlformats.org/officeDocument/2006/customXml" ds:itemID="{B93D3794-388B-453C-B4BC-C6B898C3AA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F93231-7296-4B05-9230-AACD14F7A5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43412-5ade-481b-8e1c-5482d6b2f492"/>
    <ds:schemaRef ds:uri="e5e97e90-43f6-4a92-be9d-6dcf1e5355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39ECE49-CF73-47B6-A79E-D3D608A2F9A6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metadata/properties"/>
    <ds:schemaRef ds:uri="e5e97e90-43f6-4a92-be9d-6dcf1e535517"/>
    <ds:schemaRef ds:uri="8a543412-5ade-481b-8e1c-5482d6b2f49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4605</TotalTime>
  <Words>713</Words>
  <Application>Microsoft Macintosh PowerPoint</Application>
  <PresentationFormat>Widescreen</PresentationFormat>
  <Paragraphs>86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Open Sans</vt:lpstr>
      <vt:lpstr>Arial</vt:lpstr>
      <vt:lpstr>Calibri</vt:lpstr>
      <vt:lpstr>Aptos</vt:lpstr>
      <vt:lpstr>Open Sans Semibold</vt:lpstr>
      <vt:lpstr>Wingdings</vt:lpstr>
      <vt:lpstr>Motyw pakietu Office</vt:lpstr>
      <vt:lpstr>  Projekt analityczny Analizy branżowe realizowane przez studentów  </vt:lpstr>
      <vt:lpstr>Tematy</vt:lpstr>
      <vt:lpstr>Wariant podstawowy</vt:lpstr>
      <vt:lpstr>Wskazówki ogólne</vt:lpstr>
      <vt:lpstr>Blok 1</vt:lpstr>
      <vt:lpstr>Blok 2</vt:lpstr>
      <vt:lpstr>Blok 3</vt:lpstr>
      <vt:lpstr>Blok 4</vt:lpstr>
      <vt:lpstr>Wariant zaawansowany</vt:lpstr>
      <vt:lpstr>Wskazówki ogólne</vt:lpstr>
      <vt:lpstr>Pytania, dyskusja</vt:lpstr>
      <vt:lpstr>Prof. Jerzy Cieślik</vt:lpstr>
      <vt:lpstr>Dr Paweł Pietruszewski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Burchuladze-Sobczyńska</dc:creator>
  <cp:lastModifiedBy>Adam Pietruszewski</cp:lastModifiedBy>
  <cp:revision>44</cp:revision>
  <cp:lastPrinted>2025-12-10T11:26:06Z</cp:lastPrinted>
  <dcterms:created xsi:type="dcterms:W3CDTF">2024-10-15T11:10:46Z</dcterms:created>
  <dcterms:modified xsi:type="dcterms:W3CDTF">2025-12-11T11:15:55Z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0x01010058BEFE3277A8C54FB1ED9FD83A757ADB</vt:lpwstr>
  </property>
</Properties>
</file>