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75" r:id="rId6"/>
    <p:sldId id="372" r:id="rId7"/>
    <p:sldId id="366" r:id="rId8"/>
    <p:sldId id="367" r:id="rId9"/>
    <p:sldId id="369" r:id="rId10"/>
    <p:sldId id="371" r:id="rId11"/>
    <p:sldId id="373" r:id="rId12"/>
    <p:sldId id="374" r:id="rId13"/>
    <p:sldId id="377" r:id="rId14"/>
    <p:sldId id="375" r:id="rId15"/>
    <p:sldId id="376" r:id="rId16"/>
    <p:sldId id="379" r:id="rId17"/>
    <p:sldId id="380" r:id="rId18"/>
    <p:sldId id="381" r:id="rId19"/>
    <p:sldId id="378" r:id="rId20"/>
    <p:sldId id="382" r:id="rId21"/>
    <p:sldId id="383" r:id="rId22"/>
    <p:sldId id="384" r:id="rId23"/>
    <p:sldId id="385" r:id="rId24"/>
    <p:sldId id="386" r:id="rId25"/>
    <p:sldId id="388" r:id="rId26"/>
    <p:sldId id="387" r:id="rId27"/>
    <p:sldId id="389" r:id="rId28"/>
    <p:sldId id="390" r:id="rId29"/>
    <p:sldId id="391" r:id="rId30"/>
    <p:sldId id="394" r:id="rId31"/>
  </p:sldIdLst>
  <p:sldSz cx="12192000" cy="6858000"/>
  <p:notesSz cx="6858000" cy="9144000"/>
  <p:embeddedFontLst>
    <p:embeddedFont>
      <p:font typeface="Aptos Narrow" panose="020B0004020202020204" pitchFamily="3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Semibold" panose="020B0706030804020204" pitchFamily="34" charset="0"/>
      <p:regular r:id="rId42"/>
      <p:bold r:id="rId43"/>
      <p:italic r:id="rId44"/>
      <p:boldItalic r:id="rId45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414974-6664-41E7-9CDC-0C5C5B06AB7E}">
          <p14:sldIdLst/>
        </p14:section>
        <p14:section name="empty templates" id="{E73C93B6-4012-4E9E-97BD-F3C295183920}">
          <p14:sldIdLst>
            <p14:sldId id="256"/>
            <p14:sldId id="275"/>
            <p14:sldId id="372"/>
            <p14:sldId id="366"/>
            <p14:sldId id="367"/>
            <p14:sldId id="369"/>
            <p14:sldId id="371"/>
            <p14:sldId id="373"/>
            <p14:sldId id="374"/>
            <p14:sldId id="377"/>
            <p14:sldId id="375"/>
            <p14:sldId id="376"/>
            <p14:sldId id="379"/>
            <p14:sldId id="380"/>
            <p14:sldId id="381"/>
            <p14:sldId id="378"/>
            <p14:sldId id="382"/>
            <p14:sldId id="383"/>
            <p14:sldId id="384"/>
            <p14:sldId id="385"/>
            <p14:sldId id="386"/>
            <p14:sldId id="388"/>
            <p14:sldId id="387"/>
            <p14:sldId id="389"/>
            <p14:sldId id="390"/>
            <p14:sldId id="391"/>
            <p14:sldId id="3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75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EBE"/>
    <a:srgbClr val="FF9933"/>
    <a:srgbClr val="A51C30"/>
    <a:srgbClr val="FFFFFF"/>
    <a:srgbClr val="162447"/>
    <a:srgbClr val="DDBA4D"/>
    <a:srgbClr val="FF5F5E"/>
    <a:srgbClr val="696940"/>
    <a:srgbClr val="5A0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E2D883-C930-1544-B599-E19544A78106}" v="6" dt="2025-12-10T17:44:38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64"/>
  </p:normalViewPr>
  <p:slideViewPr>
    <p:cSldViewPr snapToGrid="0">
      <p:cViewPr varScale="1">
        <p:scale>
          <a:sx n="138" d="100"/>
          <a:sy n="138" d="100"/>
        </p:scale>
        <p:origin x="1200" y="184"/>
      </p:cViewPr>
      <p:guideLst>
        <p:guide orient="horz" pos="3022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36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el Pietruszewski" userId="1f12debbb769dbfe" providerId="LiveId" clId="{E3B872FC-D74E-58EC-A7F4-78059E3F97B5}"/>
    <pc:docChg chg="modSld">
      <pc:chgData name="Pawel Pietruszewski" userId="1f12debbb769dbfe" providerId="LiveId" clId="{E3B872FC-D74E-58EC-A7F4-78059E3F97B5}" dt="2025-12-10T17:44:41.065" v="2" actId="108"/>
      <pc:docMkLst>
        <pc:docMk/>
      </pc:docMkLst>
      <pc:sldChg chg="modSp mod">
        <pc:chgData name="Pawel Pietruszewski" userId="1f12debbb769dbfe" providerId="LiveId" clId="{E3B872FC-D74E-58EC-A7F4-78059E3F97B5}" dt="2025-12-10T17:44:41.065" v="2" actId="108"/>
        <pc:sldMkLst>
          <pc:docMk/>
          <pc:sldMk cId="4218115882" sldId="385"/>
        </pc:sldMkLst>
        <pc:graphicFrameChg chg="mod modGraphic">
          <ac:chgData name="Pawel Pietruszewski" userId="1f12debbb769dbfe" providerId="LiveId" clId="{E3B872FC-D74E-58EC-A7F4-78059E3F97B5}" dt="2025-12-10T17:44:41.065" v="2" actId="108"/>
          <ac:graphicFrameMkLst>
            <pc:docMk/>
            <pc:sldMk cId="4218115882" sldId="385"/>
            <ac:graphicFrameMk id="6" creationId="{C847990D-2309-50C2-1722-2CD4C2CFE27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5A8E637E-89BF-3A2E-D0D9-950F65E846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6C97E34-0981-5F94-DA3C-178F1923AA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07D1C-E4D4-4341-B965-1A11DDA11589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3B77C07-1725-68DA-4843-9170D21CFE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9881022-7C08-24D4-5869-2065966F10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FE46B-CA11-444D-9FFD-6F43691F82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8869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681E1-122F-4C1A-8DB8-0C8F18998454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28E27-D489-49E3-912D-D4E92DC6D63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078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ymbol zastępczy obrazu slajd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Symbol zastępczy notatek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l-PL" altLang="pl-PL"/>
          </a:p>
        </p:txBody>
      </p:sp>
      <p:sp>
        <p:nvSpPr>
          <p:cNvPr id="5124" name="Symbol zastępczy numeru slajdu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DEB186-FCDB-4C4D-8A4F-09D72DD576B9}" type="slidenum">
              <a:rPr lang="pl-PL" altLang="pl-PL" smtClean="0"/>
              <a:pPr/>
              <a:t>1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409010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E01F4CD-766A-7B13-7B6A-90E84828D5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pl-PL"/>
              <a:t>Jerzy Cieslik, Przedsiębiorczość dla ambitnych</a:t>
            </a:r>
          </a:p>
        </p:txBody>
      </p:sp>
      <p:sp>
        <p:nvSpPr>
          <p:cNvPr id="37891" name="Rectangle 7">
            <a:extLst>
              <a:ext uri="{FF2B5EF4-FFF2-40B4-BE49-F238E27FC236}">
                <a16:creationId xmlns:a16="http://schemas.microsoft.com/office/drawing/2014/main" id="{71451B11-9776-DE34-3D54-57B12642F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E53195-872B-4732-9EDE-55B237A81707}" type="slidenum">
              <a:rPr lang="en-US" altLang="pl-PL"/>
              <a:pPr eaLnBrk="1" hangingPunct="1"/>
              <a:t>6</a:t>
            </a:fld>
            <a:endParaRPr lang="en-US" altLang="pl-PL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D5900C58-4CC1-1ADC-2CE1-0077B4F2D1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99AE6712-9CB4-3501-50C9-135B0AB5D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267200"/>
            <a:ext cx="6096000" cy="434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8301-AAF4-CC2E-C860-F5B750C8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ymbol zastępczy obrazu slajdu 1">
            <a:extLst>
              <a:ext uri="{FF2B5EF4-FFF2-40B4-BE49-F238E27FC236}">
                <a16:creationId xmlns:a16="http://schemas.microsoft.com/office/drawing/2014/main" id="{604F0807-29C5-C046-2487-CAF180234E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Symbol zastępczy notatek 2">
            <a:extLst>
              <a:ext uri="{FF2B5EF4-FFF2-40B4-BE49-F238E27FC236}">
                <a16:creationId xmlns:a16="http://schemas.microsoft.com/office/drawing/2014/main" id="{657DB8C7-21CC-8026-F1CA-7870B46DB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l-PL" altLang="pl-PL"/>
          </a:p>
        </p:txBody>
      </p:sp>
      <p:sp>
        <p:nvSpPr>
          <p:cNvPr id="5124" name="Symbol zastępczy numeru slajdu 3">
            <a:extLst>
              <a:ext uri="{FF2B5EF4-FFF2-40B4-BE49-F238E27FC236}">
                <a16:creationId xmlns:a16="http://schemas.microsoft.com/office/drawing/2014/main" id="{7BABCFE5-2B11-1F89-6495-41FE354D9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DEB186-FCDB-4C4D-8A4F-09D72DD576B9}" type="slidenum">
              <a:rPr lang="pl-PL" altLang="pl-PL" smtClean="0"/>
              <a:pPr/>
              <a:t>8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88414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164686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5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8340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4356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1073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294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436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411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651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6015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9398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643F8-85DF-4C73-9E90-80F4D6D0E137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453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cieslik@kozminski.edu.p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Podtytuł 2"/>
          <p:cNvSpPr>
            <a:spLocks noGrp="1"/>
          </p:cNvSpPr>
          <p:nvPr>
            <p:ph type="subTitle" idx="1"/>
          </p:nvPr>
        </p:nvSpPr>
        <p:spPr>
          <a:xfrm>
            <a:off x="1524000" y="4653136"/>
            <a:ext cx="9144000" cy="1295400"/>
          </a:xfrm>
          <a:solidFill>
            <a:schemeClr val="bg1"/>
          </a:solidFill>
        </p:spPr>
        <p:txBody>
          <a:bodyPr anchor="ctr"/>
          <a:lstStyle/>
          <a:p>
            <a:r>
              <a:rPr lang="pl-PL" altLang="pl-PL" sz="2000" b="1" dirty="0">
                <a:solidFill>
                  <a:srgbClr val="002060"/>
                </a:solidFill>
              </a:rPr>
              <a:t>Prof. dr hab. Jerzy Cieślik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Katedra Przedsiębiorczości i Etyki w Biznesie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Akademia Leona Koźmińskiego</a:t>
            </a:r>
          </a:p>
        </p:txBody>
      </p:sp>
      <p:sp>
        <p:nvSpPr>
          <p:cNvPr id="2" name="Prostokąt 1"/>
          <p:cNvSpPr/>
          <p:nvPr/>
        </p:nvSpPr>
        <p:spPr>
          <a:xfrm>
            <a:off x="1441450" y="1289636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pl-PL" sz="2400" b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STRATEGIE UMIĘDZYNARODOWIENIA PRZEDSIĘBIORSTW</a:t>
            </a:r>
          </a:p>
        </p:txBody>
      </p:sp>
      <p:sp>
        <p:nvSpPr>
          <p:cNvPr id="4100" name="Tytuł 1"/>
          <p:cNvSpPr>
            <a:spLocks noGrp="1"/>
          </p:cNvSpPr>
          <p:nvPr>
            <p:ph type="ctrTitle"/>
          </p:nvPr>
        </p:nvSpPr>
        <p:spPr>
          <a:xfrm>
            <a:off x="1524000" y="2924797"/>
            <a:ext cx="9144000" cy="1050304"/>
          </a:xfrm>
        </p:spPr>
        <p:txBody>
          <a:bodyPr>
            <a:normAutofit fontScale="90000"/>
          </a:bodyPr>
          <a:lstStyle/>
          <a:p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Projekt analityczny</a:t>
            </a:r>
            <a:b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Wprowadzenie </a:t>
            </a:r>
            <a:endParaRPr lang="pl-PL" altLang="pl-PL" sz="3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ymbol zastępczy numeru slajdu 3">
            <a:extLst>
              <a:ext uri="{FF2B5EF4-FFF2-40B4-BE49-F238E27FC236}">
                <a16:creationId xmlns:a16="http://schemas.microsoft.com/office/drawing/2014/main" id="{A97EE061-B070-28CE-6492-354187C43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C0378A-AD3B-4F59-9E49-A14EB83A8246}" type="slidenum">
              <a:rPr lang="en-US" altLang="pl-PL">
                <a:solidFill>
                  <a:schemeClr val="bg1"/>
                </a:solidFill>
              </a:rPr>
              <a:pPr eaLnBrk="1" hangingPunct="1"/>
              <a:t>2</a:t>
            </a:fld>
            <a:endParaRPr lang="en-US" altLang="pl-PL">
              <a:solidFill>
                <a:schemeClr val="bg1"/>
              </a:solidFill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51C69308-8422-EE05-BCF5-2FD587B36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l-PL" sz="3600" b="1" dirty="0">
                <a:solidFill>
                  <a:schemeClr val="accent3">
                    <a:lumMod val="50000"/>
                  </a:schemeClr>
                </a:solidFill>
              </a:rPr>
              <a:t>Założenia i cele projektu</a:t>
            </a:r>
            <a:endParaRPr 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B7D157A-9187-F167-2224-AD0635870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pl-PL" altLang="pl-PL" sz="2800" dirty="0"/>
              <a:t> Doskonalić umiejętności analityczne studentów z wykorzystaniem danych ekonomiczno-finansowych przedsiębiorstw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pl-PL" altLang="pl-PL" sz="2800" dirty="0"/>
              <a:t> Zweryfikować kluczowe ustalenia dotyczące internacjonalizacji czołówki polskich przedsiębiorstw na poziomie wybranych branż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pl-PL" altLang="pl-PL" sz="2800" dirty="0"/>
              <a:t> Wykorzystać narzędzia i wyniki prowadzonych badań </a:t>
            </a:r>
          </a:p>
          <a:p>
            <a:pPr marL="292100" indent="-292100">
              <a:lnSpc>
                <a:spcPct val="150000"/>
              </a:lnSpc>
              <a:buNone/>
            </a:pPr>
            <a:endParaRPr lang="pl-PL" altLang="pl-PL" dirty="0"/>
          </a:p>
          <a:p>
            <a:pPr marL="292100" indent="-292100">
              <a:buFont typeface="Wingdings" panose="05000000000000000000" pitchFamily="2" charset="2"/>
              <a:buChar char="§"/>
            </a:pPr>
            <a:endParaRPr lang="pl-PL" altLang="pl-PL" sz="1800" dirty="0"/>
          </a:p>
          <a:p>
            <a:pPr marL="676275" lvl="1" indent="-193675">
              <a:buNone/>
            </a:pPr>
            <a:endParaRPr lang="pl-PL" altLang="pl-PL" dirty="0"/>
          </a:p>
          <a:p>
            <a:pPr marL="292100" indent="-292100">
              <a:buNone/>
            </a:pPr>
            <a:endParaRPr lang="en-US" altLang="pl-PL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4C01EC-FCBE-DFF2-B0A0-071D0CAB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Projekt badawczy GRIP: Wzrost, internacjonalizacja a wyniki finansowe czołówki polskich przedsiębiorstw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028A1C-A55C-788E-4A0C-19FD5216B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Badanie obejmuje  czołówkę ok. 1800 największych polskich firm, które uczestniczyły w rankingu Lista 2000 organizowanym przez Redakcję Rzeczpospolitej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W badaniu, z zastosowaniem metod ilościowych, wykorzystane będą kluczowe dane ze sprawozdań finansowych przedsiębiorstw obejmujące w pierwszej fazie okres 5-letni (2019 – 2023). W trakcie realizacji projektu zakres analizy zostanie rozszerzony na okres 8-letni (2019-2026).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Zespół: prof. Jerzy Cieślik (Kierownik), prof. Andre van Stel, dr Paweł Pietruszewski</a:t>
            </a:r>
            <a:br>
              <a:rPr lang="pl-PL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6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ymbol zastępczy numeru slajdu 3">
            <a:extLst>
              <a:ext uri="{FF2B5EF4-FFF2-40B4-BE49-F238E27FC236}">
                <a16:creationId xmlns:a16="http://schemas.microsoft.com/office/drawing/2014/main" id="{A97EE061-B070-28CE-6492-354187C43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C0378A-AD3B-4F59-9E49-A14EB83A8246}" type="slidenum">
              <a:rPr lang="en-US" altLang="pl-PL">
                <a:solidFill>
                  <a:schemeClr val="bg1"/>
                </a:solidFill>
              </a:rPr>
              <a:pPr eaLnBrk="1" hangingPunct="1"/>
              <a:t>4</a:t>
            </a:fld>
            <a:endParaRPr lang="en-US" altLang="pl-PL">
              <a:solidFill>
                <a:schemeClr val="bg1"/>
              </a:solidFill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51C69308-8422-EE05-BCF5-2FD587B36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txBody>
          <a:bodyPr/>
          <a:lstStyle/>
          <a:p>
            <a:pPr eaLnBrk="1" hangingPunct="1">
              <a:defRPr/>
            </a:pPr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Projekt GRIP: Pytania badawcze</a:t>
            </a:r>
            <a:endParaRPr lang="en-US" sz="3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B7D157A-9187-F167-2224-AD0635870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92250"/>
            <a:ext cx="10515600" cy="46847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l-PL" dirty="0"/>
              <a:t>1.Determinanty wzrostu: Co napędza wzrost i umiędzynarodowienie w największych polskich firmach?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l-PL" dirty="0"/>
              <a:t>2. Zróżnicowanie czołówki polskich przedsiębiorstw, w szczególności znaczenie własności krajowej i zagranicznej</a:t>
            </a:r>
            <a:br>
              <a:rPr lang="pl-PL" dirty="0"/>
            </a:br>
            <a:r>
              <a:rPr lang="pl-PL" dirty="0"/>
              <a:t>3.Wzrost a wyniki finansowe: Jak szybki wzrost koreluje z wynikami finansowymi przedsiębiorstw?</a:t>
            </a:r>
            <a:br>
              <a:rPr lang="pl-PL" dirty="0"/>
            </a:br>
            <a:r>
              <a:rPr lang="pl-PL" dirty="0"/>
              <a:t>4.Trwałość wzrostu: Czy szybki wzrost jest trwały w perspektywie długoterminowej?</a:t>
            </a:r>
            <a:br>
              <a:rPr lang="pl-PL" dirty="0"/>
            </a:br>
            <a:r>
              <a:rPr lang="pl-PL" dirty="0"/>
              <a:t>5.Wpływ nieregularności wzrostu: W jaki sposób nieregularność wzrostu wpływa na wyniki finansowe?</a:t>
            </a:r>
            <a:br>
              <a:rPr lang="pl-PL" dirty="0"/>
            </a:br>
            <a:r>
              <a:rPr lang="pl-PL" dirty="0"/>
              <a:t>6.Wpływ pandemii COVID-19 na dynamikę wzrostu,  umiędzynarodowienie i wyniki finansowe przedsiębiorstw?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pl-PL" altLang="pl-PL" sz="2200" dirty="0"/>
          </a:p>
        </p:txBody>
      </p:sp>
    </p:spTree>
    <p:extLst>
      <p:ext uri="{BB962C8B-B14F-4D97-AF65-F5344CB8AC3E}">
        <p14:creationId xmlns:p14="http://schemas.microsoft.com/office/powerpoint/2010/main" val="371199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B82CFC-54F2-D964-8E8C-141CBDD9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Projekt GRIP: Spodziewane efekty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A09B42-7414-EA73-5ABE-A6A0BDAD8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</a:t>
            </a:r>
            <a:r>
              <a:rPr lang="pl-PL" dirty="0"/>
              <a:t>Oczekuje się, że projekt wniesie istotny wkład do rozwoju teorii wzrostu i internacjonalizacji przedsiębiorstw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Uzyskane wyniki mogą być przydatne dla wiodących polskich przedsiębiorstw w opracowaniu długofalowych strategii ekspansji na rynkach globalnych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Z kolei dla agend rządowych, odpowiedzialnych za kształtowanie polityki gospodarczej, wnioski z badań mogą posłużyć do opracowania instrumentów wsparcia, przyspieszających tworzenie polskich firm globalnych. </a:t>
            </a:r>
            <a:r>
              <a:rPr lang="pl-PL" altLang="pl-PL" dirty="0">
                <a:hlinkClick r:id="rId2"/>
              </a:rPr>
              <a:t>cieslik@kozminski.edu.pl</a:t>
            </a:r>
            <a:r>
              <a:rPr lang="pl-PL" altLang="pl-PL" dirty="0"/>
              <a:t>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9534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ymbol zastępczy numeru slajdu 3">
            <a:extLst>
              <a:ext uri="{FF2B5EF4-FFF2-40B4-BE49-F238E27FC236}">
                <a16:creationId xmlns:a16="http://schemas.microsoft.com/office/drawing/2014/main" id="{05C54991-809C-01EB-43CF-93955E184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1CAC3E-05CF-4083-AA26-026BFEC310DE}" type="slidenum">
              <a:rPr lang="en-US" altLang="pl-PL">
                <a:solidFill>
                  <a:schemeClr val="bg1"/>
                </a:solidFill>
              </a:rPr>
              <a:pPr eaLnBrk="1" hangingPunct="1"/>
              <a:t>6</a:t>
            </a:fld>
            <a:endParaRPr lang="en-US" altLang="pl-PL">
              <a:solidFill>
                <a:schemeClr val="bg1"/>
              </a:solidFill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3B5B50D-A002-C31F-8A81-10B2D882E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l-PL" sz="3600" b="1" dirty="0">
                <a:solidFill>
                  <a:schemeClr val="accent3">
                    <a:lumMod val="50000"/>
                  </a:schemeClr>
                </a:solidFill>
              </a:rPr>
              <a:t>Założenia i cele, zakładane efekty kształcenia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1C8A0BF-DFF3-8B7A-25DF-B60540ED6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Przedstawić podstawowe elementy systemu gospodarki światowej - otoczenia biznesu międzynarodowego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Przedstawić kluczowe kwestie dotyczące funkcjonowania przedsiębiorstw w obrocie międzynarodowym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wyróżniające od funkcjonowania wyłącznie na rynku krajowym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ze szczególnym uwzględnieniem dylematów i strategicznych decyzji w procesie    umiędzynarodowienia 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Przedstawić skalę i specyfikę włączania się polskich przedsiębiorstw w operacje międzynarodowe, w tym wyniki własnych badań</a:t>
            </a:r>
          </a:p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Zachęcić do rozważenia specjalizacji międzynarodowej jako opcji kariery zawodowej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Kariery w służbie publicznej (administracja, dyplomacja)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Kariery menedżerskiej – operacje zagraniczne dużych firm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pl-PL" sz="2000" dirty="0"/>
              <a:t>Kariery przedsiębiorczej – przedsiębiorczość międzynarodowa</a:t>
            </a:r>
          </a:p>
          <a:p>
            <a:pPr marL="292100" indent="-292100">
              <a:buNone/>
              <a:defRPr/>
            </a:pPr>
            <a:endParaRPr lang="pl-PL" sz="1800" dirty="0"/>
          </a:p>
          <a:p>
            <a:pPr marL="676275" lvl="1" indent="-193675">
              <a:buNone/>
              <a:defRPr/>
            </a:pPr>
            <a:endParaRPr lang="pl-P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ymbol zastępczy numeru slajdu 3">
            <a:extLst>
              <a:ext uri="{FF2B5EF4-FFF2-40B4-BE49-F238E27FC236}">
                <a16:creationId xmlns:a16="http://schemas.microsoft.com/office/drawing/2014/main" id="{A97EE061-B070-28CE-6492-354187C43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C0378A-AD3B-4F59-9E49-A14EB83A8246}" type="slidenum">
              <a:rPr lang="en-US" altLang="pl-PL">
                <a:solidFill>
                  <a:schemeClr val="bg1"/>
                </a:solidFill>
              </a:rPr>
              <a:pPr eaLnBrk="1" hangingPunct="1"/>
              <a:t>7</a:t>
            </a:fld>
            <a:endParaRPr lang="en-US" altLang="pl-PL">
              <a:solidFill>
                <a:schemeClr val="bg1"/>
              </a:solidFill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51C69308-8422-EE05-BCF5-2FD587B36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l-PL" sz="3200" b="1" dirty="0">
                <a:solidFill>
                  <a:schemeClr val="accent3">
                    <a:lumMod val="50000"/>
                  </a:schemeClr>
                </a:solidFill>
              </a:rPr>
              <a:t>Projekt analityczny – założenia realizacyjne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B7D157A-9187-F167-2224-AD0635870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l-PL" altLang="pl-PL" dirty="0"/>
              <a:t> Prowadzący przedstawi wyniki analizy dynamiki i internacjonalizacji czołówki ok. 1800 przedsiębiorstw w latach 2019 – 2023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altLang="pl-PL" dirty="0"/>
              <a:t>  Uczestnicy na kolejnych zajęciach 16.12 przedstawią wyniki analizy w 8 branżach gospodarki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altLang="pl-PL" dirty="0"/>
              <a:t> Udostępnione branżowe dane empiryczne z Bazy Projektu GRIP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altLang="pl-PL" dirty="0"/>
              <a:t> Zespoły branżowe 5 osobowe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altLang="pl-PL" dirty="0"/>
              <a:t> Wskazówki dotyczące zakresu i metod analizy na poziomie branży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altLang="pl-PL" dirty="0"/>
              <a:t> Kanały branżowe w TEAMS do pracy w zespołach</a:t>
            </a:r>
          </a:p>
          <a:p>
            <a:pPr marL="292100" indent="-292100">
              <a:lnSpc>
                <a:spcPct val="150000"/>
              </a:lnSpc>
              <a:buNone/>
            </a:pPr>
            <a:endParaRPr lang="pl-PL" altLang="pl-PL" dirty="0"/>
          </a:p>
          <a:p>
            <a:pPr marL="292100" indent="-292100">
              <a:buFont typeface="Wingdings" panose="05000000000000000000" pitchFamily="2" charset="2"/>
              <a:buChar char="§"/>
            </a:pPr>
            <a:endParaRPr lang="pl-PL" altLang="pl-PL" sz="1800" dirty="0"/>
          </a:p>
          <a:p>
            <a:pPr marL="676275" lvl="1" indent="-193675">
              <a:buNone/>
            </a:pPr>
            <a:endParaRPr lang="pl-PL" altLang="pl-PL" dirty="0"/>
          </a:p>
          <a:p>
            <a:pPr marL="292100" indent="-292100">
              <a:buNone/>
            </a:pPr>
            <a:endParaRPr lang="en-US" altLang="pl-PL" sz="1800" dirty="0"/>
          </a:p>
        </p:txBody>
      </p:sp>
    </p:spTree>
    <p:extLst>
      <p:ext uri="{BB962C8B-B14F-4D97-AF65-F5344CB8AC3E}">
        <p14:creationId xmlns:p14="http://schemas.microsoft.com/office/powerpoint/2010/main" val="103403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81E7-3BFE-9D8A-3E79-E2859BF3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Podtytuł 2">
            <a:extLst>
              <a:ext uri="{FF2B5EF4-FFF2-40B4-BE49-F238E27FC236}">
                <a16:creationId xmlns:a16="http://schemas.microsoft.com/office/drawing/2014/main" id="{43A23E61-BFC7-6431-AC4D-399C0C484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3136"/>
            <a:ext cx="9144000" cy="1295400"/>
          </a:xfrm>
          <a:solidFill>
            <a:schemeClr val="bg1"/>
          </a:solidFill>
        </p:spPr>
        <p:txBody>
          <a:bodyPr anchor="ctr"/>
          <a:lstStyle/>
          <a:p>
            <a:r>
              <a:rPr lang="pl-PL" altLang="pl-PL" sz="2000" b="1" dirty="0">
                <a:solidFill>
                  <a:srgbClr val="002060"/>
                </a:solidFill>
              </a:rPr>
              <a:t>Prof. dr hab. Jerzy Cieślik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Katedra Przedsiębiorczości i Etyki w Biznesie</a:t>
            </a:r>
            <a:br>
              <a:rPr lang="pl-PL" altLang="pl-PL" sz="2000" b="1" dirty="0">
                <a:solidFill>
                  <a:srgbClr val="002060"/>
                </a:solidFill>
              </a:rPr>
            </a:br>
            <a:r>
              <a:rPr lang="pl-PL" altLang="pl-PL" sz="2000" b="1" dirty="0">
                <a:solidFill>
                  <a:srgbClr val="002060"/>
                </a:solidFill>
              </a:rPr>
              <a:t>Akademia Leona Koźmińskiego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F917AC69-0335-3B64-A6B9-4CB0E69D9D55}"/>
              </a:ext>
            </a:extLst>
          </p:cNvPr>
          <p:cNvSpPr/>
          <p:nvPr/>
        </p:nvSpPr>
        <p:spPr>
          <a:xfrm>
            <a:off x="1441450" y="1289636"/>
            <a:ext cx="9144000" cy="1296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STRATEGIE UMIĘDZYNARODOWIENIA PRZEDSIĘBIORSTW</a:t>
            </a:r>
          </a:p>
        </p:txBody>
      </p:sp>
      <p:sp>
        <p:nvSpPr>
          <p:cNvPr id="4100" name="Tytuł 1">
            <a:extLst>
              <a:ext uri="{FF2B5EF4-FFF2-40B4-BE49-F238E27FC236}">
                <a16:creationId xmlns:a16="http://schemas.microsoft.com/office/drawing/2014/main" id="{87E9217A-2EC5-F90B-FA85-99BD2685C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144000" cy="2095499"/>
          </a:xfrm>
        </p:spPr>
        <p:txBody>
          <a:bodyPr>
            <a:normAutofit fontScale="90000"/>
          </a:bodyPr>
          <a:lstStyle/>
          <a:p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Projekt analityczny</a:t>
            </a:r>
            <a:b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pl-PL" altLang="en-US" sz="3800" dirty="0">
                <a:solidFill>
                  <a:schemeClr val="accent2">
                    <a:lumMod val="50000"/>
                  </a:schemeClr>
                </a:solidFill>
              </a:rPr>
              <a:t>Dynamika wzrostu i internacjonalizacja polskich przedsiębiorstw 2019 - 2023</a:t>
            </a:r>
            <a:b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l-PL" altLang="en-US" sz="3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endParaRPr lang="pl-PL" altLang="pl-PL" sz="3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93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BC85-BCC4-5D6A-99F2-4B19DE4E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E8D700-50B0-6019-9418-AD3667C0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Zakres analizy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9029C7-D585-D480-66A4-1D39A7537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Badanie obejmuje  czołówkę ok. 1800 największych polskich firm, które uczestniczyły w rankingu Lista 2000 organizowanym przez Redakcję Rzeczpospolitej w 2019 roku. Analizie podlega ich dalszy rozwój do 2023 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Tematy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Jakie znaczenie ma własność i intensywność eksportu na wielkość eksportu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Porównanie potencjału ekonomicznego firm z kapitałem krajowym i zagranicznym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Odporność firm na pandemię COVID-19 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Trajektorie wzrostu firm w dobie globalnych turbulencji</a:t>
            </a:r>
          </a:p>
          <a:p>
            <a:pPr marL="0" indent="0">
              <a:buNone/>
            </a:pPr>
            <a:br>
              <a:rPr lang="pl-PL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59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909B-07B4-5AA5-2D39-2939DB3D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A003CF-B8F2-0533-F240-F067BAED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1. Poziom internacjonalizacji a zaangażowanie międzynarodowe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A05924-7548-8BBB-C40D-CE67F0036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50"/>
            <a:ext cx="10515600" cy="468471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Dwa wymiary internacjonalizacji: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intensywność eksportu (udział eksportu w sprzedaży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własność (krajowa, zagraniczna, mieszana)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Udział eksportu do 10% praktycznie nieistotny, powyżej 50% oznacza orientację na rynki zagraniczne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Polskie filie międzynarodowych korporacji korzystają z potencjału globalnej struktury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Dotychczasowe ustalenia: dominujący udział w polskim eksporcie mają firmy duże, o wysokiej intensywności eksportu, kontrolowane przez kapitał zagraniczny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Czy dane to potwierdzają?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pl-PL" altLang="pl-PL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798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BE10BC-01DA-4C0F-D470-15FB0F790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txBody>
          <a:bodyPr/>
          <a:lstStyle/>
          <a:p>
            <a:r>
              <a:rPr lang="pl-PL" dirty="0">
                <a:solidFill>
                  <a:schemeClr val="accent2">
                    <a:lumMod val="50000"/>
                  </a:schemeClr>
                </a:solidFill>
              </a:rPr>
              <a:t>1. Liczba firm, przychody ze sprzedaży i wartość eksportu według poziomu intensywności i </a:t>
            </a:r>
            <a:r>
              <a:rPr lang="pl-PL" dirty="0" err="1">
                <a:solidFill>
                  <a:schemeClr val="accent2">
                    <a:lumMod val="50000"/>
                  </a:schemeClr>
                </a:solidFill>
              </a:rPr>
              <a:t>własnośći</a:t>
            </a:r>
            <a:r>
              <a:rPr lang="pl-PL" dirty="0">
                <a:solidFill>
                  <a:schemeClr val="accent2">
                    <a:lumMod val="50000"/>
                  </a:schemeClr>
                </a:solidFill>
              </a:rPr>
              <a:t> firm 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C20E1FB-6265-B2DD-D027-942AC3E26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2629"/>
              </p:ext>
            </p:extLst>
          </p:nvPr>
        </p:nvGraphicFramePr>
        <p:xfrm>
          <a:off x="1359627" y="1447800"/>
          <a:ext cx="9220781" cy="4457700"/>
        </p:xfrm>
        <a:graphic>
          <a:graphicData uri="http://schemas.openxmlformats.org/drawingml/2006/table">
            <a:tbl>
              <a:tblPr/>
              <a:tblGrid>
                <a:gridCol w="4277643">
                  <a:extLst>
                    <a:ext uri="{9D8B030D-6E8A-4147-A177-3AD203B41FA5}">
                      <a16:colId xmlns:a16="http://schemas.microsoft.com/office/drawing/2014/main" val="3868484083"/>
                    </a:ext>
                  </a:extLst>
                </a:gridCol>
                <a:gridCol w="865530">
                  <a:extLst>
                    <a:ext uri="{9D8B030D-6E8A-4147-A177-3AD203B41FA5}">
                      <a16:colId xmlns:a16="http://schemas.microsoft.com/office/drawing/2014/main" val="1425144370"/>
                    </a:ext>
                  </a:extLst>
                </a:gridCol>
                <a:gridCol w="815522">
                  <a:extLst>
                    <a:ext uri="{9D8B030D-6E8A-4147-A177-3AD203B41FA5}">
                      <a16:colId xmlns:a16="http://schemas.microsoft.com/office/drawing/2014/main" val="3646309355"/>
                    </a:ext>
                  </a:extLst>
                </a:gridCol>
                <a:gridCol w="784747">
                  <a:extLst>
                    <a:ext uri="{9D8B030D-6E8A-4147-A177-3AD203B41FA5}">
                      <a16:colId xmlns:a16="http://schemas.microsoft.com/office/drawing/2014/main" val="2519902205"/>
                    </a:ext>
                  </a:extLst>
                </a:gridCol>
                <a:gridCol w="815522">
                  <a:extLst>
                    <a:ext uri="{9D8B030D-6E8A-4147-A177-3AD203B41FA5}">
                      <a16:colId xmlns:a16="http://schemas.microsoft.com/office/drawing/2014/main" val="3413186172"/>
                    </a:ext>
                  </a:extLst>
                </a:gridCol>
                <a:gridCol w="784747">
                  <a:extLst>
                    <a:ext uri="{9D8B030D-6E8A-4147-A177-3AD203B41FA5}">
                      <a16:colId xmlns:a16="http://schemas.microsoft.com/office/drawing/2014/main" val="3061445119"/>
                    </a:ext>
                  </a:extLst>
                </a:gridCol>
                <a:gridCol w="877070">
                  <a:extLst>
                    <a:ext uri="{9D8B030D-6E8A-4147-A177-3AD203B41FA5}">
                      <a16:colId xmlns:a16="http://schemas.microsoft.com/office/drawing/2014/main" val="2831128310"/>
                    </a:ext>
                  </a:extLst>
                </a:gridCol>
              </a:tblGrid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Liczba firm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793196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Przedziały intensywności eksportu*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75-100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175540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04144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05511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730703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04983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53515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Przychody ze sprzedaży 2023 mld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863451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Przedziały intensywności eksportu*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75-100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511681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743,3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169,0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204,6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157,1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407,7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1 681,7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05995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1 125,1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221,2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216,8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187,9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85,3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1 836,3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63286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1 868,3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390,2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421,4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345,0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493,0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3 518,0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957988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658403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9397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Eksport 2023 mld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609222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Przedziały intensywności eksportu*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75-100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27395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8,3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28,9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74,1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99,6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371,6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582,4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192014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9,1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38,9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80,4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117,2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74,5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320,1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71179"/>
                  </a:ext>
                </a:extLst>
              </a:tr>
              <a:tr h="2207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17,4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67,7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154,5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216,7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446,1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902,5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311385"/>
                  </a:ext>
                </a:extLst>
              </a:tr>
              <a:tr h="220703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*Intensywność eksportu - relacja eksportu do przychodów ze sprzedaży w %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52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127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EBEDB1D8-8261-5932-6AF9-47031007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0"/>
            <a:ext cx="60833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87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5639-2E78-3C7D-EEF3-303F3168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9113D9-2410-95B4-CAB3-39FC0D4D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>
                <a:solidFill>
                  <a:schemeClr val="accent3">
                    <a:lumMod val="50000"/>
                  </a:schemeClr>
                </a:solidFill>
              </a:rPr>
              <a:t>1. Poziom internacjonalizacji a zaangażowanie międzynarodowe – wnioski z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A30CB2-2D5A-BA07-4768-D7F64B34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2250"/>
            <a:ext cx="10515600" cy="46847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</a:t>
            </a:r>
            <a:r>
              <a:rPr lang="pl-PL" altLang="pl-PL" sz="2800" dirty="0"/>
              <a:t>Potwierdzenie wcześniejszych ustaleń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sz="2800" dirty="0"/>
              <a:t>Znacząca grupa głównie krajowych firm skupiona na rynku polskim – specyfika branżowa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sz="2800" dirty="0"/>
              <a:t> 74% eksportu realizowane przez duże firmy o wysokiej intensywności eksportu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sz="2800" dirty="0"/>
              <a:t>W tej grupie dominują firmy z kapitałem zagranicznym, zwłaszcza w przedziale intensywności eksportu 75-100%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sz="2800" dirty="0"/>
              <a:t> Jakie wnioski dla polityki gospodarczej?</a:t>
            </a:r>
          </a:p>
          <a:p>
            <a:pPr marL="0" indent="0">
              <a:lnSpc>
                <a:spcPct val="100000"/>
              </a:lnSpc>
              <a:buNone/>
            </a:pPr>
            <a:endParaRPr lang="pl-PL" altLang="pl-PL" dirty="0"/>
          </a:p>
          <a:p>
            <a:pPr marL="457200" lvl="1" indent="0">
              <a:lnSpc>
                <a:spcPct val="10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4696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B7CC-013B-8208-17DA-187BA4C9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726CB1-A0B7-9F03-5F2E-6AB4B91D5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Podstawowe wskaźniki ekonomiczno-finansowe</a:t>
            </a:r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4188D235-96B4-0346-3AD3-3F180C2094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823816"/>
              </p:ext>
            </p:extLst>
          </p:nvPr>
        </p:nvGraphicFramePr>
        <p:xfrm>
          <a:off x="1081923" y="1504950"/>
          <a:ext cx="9694027" cy="4511853"/>
        </p:xfrm>
        <a:graphic>
          <a:graphicData uri="http://schemas.openxmlformats.org/drawingml/2006/table">
            <a:tbl>
              <a:tblPr/>
              <a:tblGrid>
                <a:gridCol w="3084056">
                  <a:extLst>
                    <a:ext uri="{9D8B030D-6E8A-4147-A177-3AD203B41FA5}">
                      <a16:colId xmlns:a16="http://schemas.microsoft.com/office/drawing/2014/main" val="1110411414"/>
                    </a:ext>
                  </a:extLst>
                </a:gridCol>
                <a:gridCol w="2378423">
                  <a:extLst>
                    <a:ext uri="{9D8B030D-6E8A-4147-A177-3AD203B41FA5}">
                      <a16:colId xmlns:a16="http://schemas.microsoft.com/office/drawing/2014/main" val="466363307"/>
                    </a:ext>
                  </a:extLst>
                </a:gridCol>
                <a:gridCol w="4231548">
                  <a:extLst>
                    <a:ext uri="{9D8B030D-6E8A-4147-A177-3AD203B41FA5}">
                      <a16:colId xmlns:a16="http://schemas.microsoft.com/office/drawing/2014/main" val="606950325"/>
                    </a:ext>
                  </a:extLst>
                </a:gridCol>
              </a:tblGrid>
              <a:tr h="3443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Wskaźnik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Sposób pomiaru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Interpretacja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466876"/>
                  </a:ext>
                </a:extLst>
              </a:tr>
              <a:tr h="678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Rentowność sprzedaży (ROS)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Wynik finansowy (zysk) netto/ Przychody ze sprzedaży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Marża zysku na sprzedaży (ROS)bardzo zróżnicowana w poszczególnych branżach. ROS przydatny do analizy konkurencji o zbliżonym profilu działalności.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0987"/>
                  </a:ext>
                </a:extLst>
              </a:tr>
              <a:tr h="5755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Rentowność aktywów (ROA)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Wynik finansowy (zysk) netto/ Aktywa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 pokazuje jak efektywnie wykorzystuje aktywa zaangażowane w prowadzonej działalności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559792"/>
                  </a:ext>
                </a:extLst>
              </a:tr>
              <a:tr h="678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Rentowność kapitału własnego (ROE)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Wynik finansowy (zysk) netto/ Kapitał własny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ROE ilustruje perspektywę właścicielską. Porównanie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stopy zwrotu z kapitału na tle alternatywnych kierunków inwestowania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838737"/>
                  </a:ext>
                </a:extLst>
              </a:tr>
              <a:tr h="5755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Produktywność pracy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Przychody ze sprzedaży na 1 zatrudnionego*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Miernik pokazujący poziom produktywność pracy. Łączny efekt kapitału ludzkiego i wyposażenia technicznego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42761"/>
                  </a:ext>
                </a:extLst>
              </a:tr>
              <a:tr h="5755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Wyposażenie w kapitał ludzki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Wynagrodzenia na 1 zatrudnionego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Wynagrodzenia ilustrują poziom wykształcenia i kwalifikacji, co powinno się przełożyć na wyższą produktywność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597383"/>
                  </a:ext>
                </a:extLst>
              </a:tr>
              <a:tr h="5755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Wyposażenie techniczne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Środki trwałe na 1 zatrudnionego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Lepsze wyposażenie stanowisk pracy, zwłaszcza w przemyśle (np.. maszyny, urządzenia) zwiększa produktywność pracy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722496"/>
                  </a:ext>
                </a:extLst>
              </a:tr>
              <a:tr h="3601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 </a:t>
                      </a:r>
                      <a:r>
                        <a:rPr lang="pl-P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Definicja uproszczona. Bardziej precyzyjny wskaźnik: wartość dodana na 1 zatrudnionego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33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39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7DF0-2CCC-97E2-13B2-80E659E3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B38F22-EE1B-01E5-40C2-B166960A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Podstawowe wskaźniki ekonomiczno-finansowe w 2023 r.</a:t>
            </a:r>
            <a:b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(wielkości średnie)</a:t>
            </a:r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9D7202EB-A2C3-BD35-935E-D38C3041C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94864"/>
              </p:ext>
            </p:extLst>
          </p:nvPr>
        </p:nvGraphicFramePr>
        <p:xfrm>
          <a:off x="1136650" y="1853812"/>
          <a:ext cx="9467851" cy="2719235"/>
        </p:xfrm>
        <a:graphic>
          <a:graphicData uri="http://schemas.openxmlformats.org/drawingml/2006/table">
            <a:tbl>
              <a:tblPr/>
              <a:tblGrid>
                <a:gridCol w="3736398">
                  <a:extLst>
                    <a:ext uri="{9D8B030D-6E8A-4147-A177-3AD203B41FA5}">
                      <a16:colId xmlns:a16="http://schemas.microsoft.com/office/drawing/2014/main" val="1412951886"/>
                    </a:ext>
                  </a:extLst>
                </a:gridCol>
                <a:gridCol w="1026102">
                  <a:extLst>
                    <a:ext uri="{9D8B030D-6E8A-4147-A177-3AD203B41FA5}">
                      <a16:colId xmlns:a16="http://schemas.microsoft.com/office/drawing/2014/main" val="2528915421"/>
                    </a:ext>
                  </a:extLst>
                </a:gridCol>
                <a:gridCol w="1470598">
                  <a:extLst>
                    <a:ext uri="{9D8B030D-6E8A-4147-A177-3AD203B41FA5}">
                      <a16:colId xmlns:a16="http://schemas.microsoft.com/office/drawing/2014/main" val="1344330792"/>
                    </a:ext>
                  </a:extLst>
                </a:gridCol>
                <a:gridCol w="1660622">
                  <a:extLst>
                    <a:ext uri="{9D8B030D-6E8A-4147-A177-3AD203B41FA5}">
                      <a16:colId xmlns:a16="http://schemas.microsoft.com/office/drawing/2014/main" val="3839279887"/>
                    </a:ext>
                  </a:extLst>
                </a:gridCol>
                <a:gridCol w="1574131">
                  <a:extLst>
                    <a:ext uri="{9D8B030D-6E8A-4147-A177-3AD203B41FA5}">
                      <a16:colId xmlns:a16="http://schemas.microsoft.com/office/drawing/2014/main" val="1611298388"/>
                    </a:ext>
                  </a:extLst>
                </a:gridCol>
              </a:tblGrid>
              <a:tr h="569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Miernik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Miara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Firmy krajowe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Firmy 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468629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515460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071291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674186"/>
                  </a:ext>
                </a:extLst>
              </a:tr>
              <a:tr h="299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Produktywność pracy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tys.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1 227,4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1 377,4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1 294,8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653274"/>
                  </a:ext>
                </a:extLst>
              </a:tr>
              <a:tr h="3919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Wyposażenie w kapitał ludzki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tys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112,8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122,5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117,1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286848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Wyposażenie techniczne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tys.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614,3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400,7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518,3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404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5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7E18-777B-547C-D5D2-EC09409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3FFA85-E9B0-0685-29BF-945AB221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2. Porównanie potencjału ekonomicznego firm z kapitałem krajowym i zagranicznym – wnioski z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CAAECE-D0A6-A90F-8C2A-60CF2E68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60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Firmy z kapitałem generalnie bardziej rentowne niż firmy krajowe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Niewielka przewaga firm zagranicznych w produktywności pracy, wyposażenia w kapitał ludzki i w środki trwałe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Te różnice nie wyjaśniają tak znaczącej przewagi firm zagranicznych w eksporcie. Tu kluczowe znaczenie ma dostęp filii polskiej do globalnej sieci dystrybucyjnej, zaplecza finansowego i technicznego międzynarodowej korporacji</a:t>
            </a:r>
          </a:p>
        </p:txBody>
      </p:sp>
    </p:spTree>
    <p:extLst>
      <p:ext uri="{BB962C8B-B14F-4D97-AF65-F5344CB8AC3E}">
        <p14:creationId xmlns:p14="http://schemas.microsoft.com/office/powerpoint/2010/main" val="5753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940CE-935F-4B69-70B8-17C9504A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0A5E77-943C-766B-BFD5-66FD6589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2. Porównanie potencjału ekonomicznego firm z kapitałem krajowym i zagranicznym – wnioski z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531604-7DF4-4782-BA9D-C3A6CE5BE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60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</a:t>
            </a:r>
            <a:r>
              <a:rPr lang="pl-PL" altLang="pl-PL" sz="2800" dirty="0"/>
              <a:t>Firmy z kapitałem generalnie bardziej rentowne niż firmy krajowe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sz="2800" dirty="0"/>
              <a:t> Niewielka przewaga firm zagranicznych w produktywności pracy, wyposażenia w kapitał ludzki i w środki trwałe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800" dirty="0"/>
              <a:t> Te różnice nie wyjaśniają tak znaczącej przewagi firm zagranicznych w eksporcie. Tu kluczowe znaczenie ma dostęp filii polskiej do globalnej sieci dystrybucyjnej, zaplecza finansowego i technicznego międzynarodowej korporacji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3960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CAE9-3B38-C1FF-827C-200E0743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5AD228-F4B2-5D07-9E6C-F4E8729B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3. Odporność firm na pandemię COVID-19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0E498F-487E-3D20-722A-71385D4C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60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Globalne turbulencje zwróciły uwagę na szczególny wymiar konkurencyjności firm- odporności organizacyjnej na te turbulencje (</a:t>
            </a:r>
            <a:r>
              <a:rPr lang="pl-PL" altLang="pl-PL" dirty="0" err="1"/>
              <a:t>organizational</a:t>
            </a:r>
            <a:r>
              <a:rPr lang="pl-PL" altLang="pl-PL" dirty="0"/>
              <a:t> </a:t>
            </a:r>
            <a:r>
              <a:rPr lang="pl-PL" altLang="pl-PL" dirty="0" err="1"/>
              <a:t>resilience</a:t>
            </a:r>
            <a:r>
              <a:rPr lang="pl-PL" altLang="pl-PL" dirty="0"/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W badaniach GRIP porównujemy poziom sprzedaży w 2019 (przed pandemią) i 2023 (pierwszy rok po pandemii)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Wysoki poziom inflacji w badanym okresie (kumulatywnie 34,3%) – potrzeba analizy z wyłączeniem inflacji (w cenach stałych)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W Projekcie GRIP wyróżniamy 4 typy odporności, w tym status gazeli</a:t>
            </a:r>
          </a:p>
        </p:txBody>
      </p:sp>
    </p:spTree>
    <p:extLst>
      <p:ext uri="{BB962C8B-B14F-4D97-AF65-F5344CB8AC3E}">
        <p14:creationId xmlns:p14="http://schemas.microsoft.com/office/powerpoint/2010/main" val="228335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C956-DC26-49C2-FC59-1427ACB9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6DB12F-6174-2D53-7F93-D03B593F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Badania nad firmami dynamicznymi (gazelami)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ABEA82-B6AA-957A-FD95-942494044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60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</a:t>
            </a:r>
            <a:r>
              <a:rPr lang="pl-PL" altLang="pl-PL" sz="2000" dirty="0"/>
              <a:t>Od ponad 40 lat zainteresowanie firmami o wysokiej dynamice wzrostu ze względu na  generowanie nowych miejsc pracy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 Przyjęte miary dynamiki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Średnioroczny wzrost 20%+ w ciągu 3 lat w cenach bieżących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Średnioroczny wzrost zatrudnienia 10%+ w ciągu 3 lat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Badania wykazały, że dynamiczny wzrost ma charakter krótkotrwały i nie da się go utrzymać w dłuższej perspektywie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Oczekiwania co do roli gazel w gospodarce przesadzone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 Jednak status gazeli w okresie pandemii COVID 19 szczególnym osiągnięciem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sz="2000" dirty="0"/>
              <a:t>Kryterium: średnioroczny wzrost sprzedaży w cenach bieżących w ciągu 4 lat minimum 20% - skumulowany 207%</a:t>
            </a:r>
          </a:p>
        </p:txBody>
      </p:sp>
    </p:spTree>
    <p:extLst>
      <p:ext uri="{BB962C8B-B14F-4D97-AF65-F5344CB8AC3E}">
        <p14:creationId xmlns:p14="http://schemas.microsoft.com/office/powerpoint/2010/main" val="416597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12B8-39D4-1A48-C866-449D548B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40E4F9-53AB-766C-265C-BFD5FF9D6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332"/>
            <a:ext cx="10515600" cy="663115"/>
          </a:xfrm>
        </p:spPr>
        <p:txBody>
          <a:bodyPr>
            <a:normAutofit fontScale="90000"/>
          </a:bodyPr>
          <a:lstStyle/>
          <a:p>
            <a:pPr marL="457200" marR="0" lvl="1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Typy odporności organizacyjnej na kryzys pandemii COVID-19 2019-2023</a:t>
            </a:r>
            <a:b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endParaRPr kumimoji="0" lang="pl-PL" sz="28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6" name="Symbol zastępczy zawartości 5">
            <a:extLst>
              <a:ext uri="{FF2B5EF4-FFF2-40B4-BE49-F238E27FC236}">
                <a16:creationId xmlns:a16="http://schemas.microsoft.com/office/drawing/2014/main" id="{C847990D-2309-50C2-1722-2CD4C2CFE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625144"/>
              </p:ext>
            </p:extLst>
          </p:nvPr>
        </p:nvGraphicFramePr>
        <p:xfrm>
          <a:off x="1137764" y="1570534"/>
          <a:ext cx="9548848" cy="4472683"/>
        </p:xfrm>
        <a:graphic>
          <a:graphicData uri="http://schemas.openxmlformats.org/drawingml/2006/table">
            <a:tbl>
              <a:tblPr/>
              <a:tblGrid>
                <a:gridCol w="2053336">
                  <a:extLst>
                    <a:ext uri="{9D8B030D-6E8A-4147-A177-3AD203B41FA5}">
                      <a16:colId xmlns:a16="http://schemas.microsoft.com/office/drawing/2014/main" val="4247287957"/>
                    </a:ext>
                  </a:extLst>
                </a:gridCol>
                <a:gridCol w="2053336">
                  <a:extLst>
                    <a:ext uri="{9D8B030D-6E8A-4147-A177-3AD203B41FA5}">
                      <a16:colId xmlns:a16="http://schemas.microsoft.com/office/drawing/2014/main" val="129743242"/>
                    </a:ext>
                  </a:extLst>
                </a:gridCol>
                <a:gridCol w="1836317">
                  <a:extLst>
                    <a:ext uri="{9D8B030D-6E8A-4147-A177-3AD203B41FA5}">
                      <a16:colId xmlns:a16="http://schemas.microsoft.com/office/drawing/2014/main" val="601056738"/>
                    </a:ext>
                  </a:extLst>
                </a:gridCol>
                <a:gridCol w="1836317">
                  <a:extLst>
                    <a:ext uri="{9D8B030D-6E8A-4147-A177-3AD203B41FA5}">
                      <a16:colId xmlns:a16="http://schemas.microsoft.com/office/drawing/2014/main" val="1647941621"/>
                    </a:ext>
                  </a:extLst>
                </a:gridCol>
                <a:gridCol w="1769542">
                  <a:extLst>
                    <a:ext uri="{9D8B030D-6E8A-4147-A177-3AD203B41FA5}">
                      <a16:colId xmlns:a16="http://schemas.microsoft.com/office/drawing/2014/main" val="2767442768"/>
                    </a:ext>
                  </a:extLst>
                </a:gridCol>
              </a:tblGrid>
              <a:tr h="49506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Dynamika w cenach stałych i zmiennych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Spadek w cenach stałych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Wzrost w cenach stałych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531409"/>
                  </a:ext>
                </a:extLst>
              </a:tr>
              <a:tr h="5074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Spadek w cenach bieżących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Wzrost w cenach bieżących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Umiarkowany wzrost w cenach stałych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gazeli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392645"/>
                  </a:ext>
                </a:extLst>
              </a:tr>
              <a:tr h="2599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 odporności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30673"/>
                  </a:ext>
                </a:extLst>
              </a:tr>
              <a:tr h="6188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Przedział dynamiki w cenach bieżących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&lt; 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0 &lt; 1.3859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1,3859 &lt; 2,0736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2,0736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541372"/>
                  </a:ext>
                </a:extLst>
              </a:tr>
              <a:tr h="631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Przedział dynamiki w cenach stałych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&lt; 0,7009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0,7009 &lt;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1 &lt; 1,5456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P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&gt;= 1,5456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252905"/>
                  </a:ext>
                </a:extLst>
              </a:tr>
              <a:tr h="18812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Spadek w cenach bieżących widoczny w sprawozdaniach finansowych. Negatywny efekt wizerunkowy.  Wzrost inflacyjny kosztów działalności.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Firma wykazuje pewien wzrost sprzedaży ale to nie rekompensuje wzrostu kosztów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Firma wykazuje umiarkowaną odporność na kryzys </a:t>
                      </a:r>
                      <a:r>
                        <a:rPr lang="pl-PL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zwązany</a:t>
                      </a: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z pandemią COVID-19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Firma utrzymuje status gazeli w trakcie pandemii. Przejaw szczególnej odporności na kryzys.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35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11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0B0F-714F-0A67-152F-2CBFEF13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AEED58-F0F3-3D92-87D4-0B6F3E7F7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" y="586332"/>
            <a:ext cx="11957050" cy="663115"/>
          </a:xfrm>
        </p:spPr>
        <p:txBody>
          <a:bodyPr>
            <a:normAutofit fontScale="90000"/>
          </a:bodyPr>
          <a:lstStyle/>
          <a:p>
            <a:pPr marL="457200" marR="0" lvl="1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l-PL" sz="2700" kern="1200" dirty="0">
                <a:solidFill>
                  <a:schemeClr val="accent2">
                    <a:lumMod val="50000"/>
                  </a:schemeClr>
                </a:solidFill>
                <a:latin typeface="+mj-lt"/>
                <a:ea typeface="+mn-ea"/>
                <a:cs typeface="+mn-cs"/>
              </a:rPr>
              <a:t>Struktura firm  według typów odporności na skutki COVID-19 (dane 2023)</a:t>
            </a:r>
            <a:b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endParaRPr kumimoji="0" lang="pl-PL" sz="28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C149CB59-D735-C99A-4CF1-240BC5F42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634436"/>
              </p:ext>
            </p:extLst>
          </p:nvPr>
        </p:nvGraphicFramePr>
        <p:xfrm>
          <a:off x="1503059" y="1159773"/>
          <a:ext cx="9185881" cy="4846320"/>
        </p:xfrm>
        <a:graphic>
          <a:graphicData uri="http://schemas.openxmlformats.org/drawingml/2006/table">
            <a:tbl>
              <a:tblPr/>
              <a:tblGrid>
                <a:gridCol w="3428459">
                  <a:extLst>
                    <a:ext uri="{9D8B030D-6E8A-4147-A177-3AD203B41FA5}">
                      <a16:colId xmlns:a16="http://schemas.microsoft.com/office/drawing/2014/main" val="4262707925"/>
                    </a:ext>
                  </a:extLst>
                </a:gridCol>
                <a:gridCol w="1169751">
                  <a:extLst>
                    <a:ext uri="{9D8B030D-6E8A-4147-A177-3AD203B41FA5}">
                      <a16:colId xmlns:a16="http://schemas.microsoft.com/office/drawing/2014/main" val="362026330"/>
                    </a:ext>
                  </a:extLst>
                </a:gridCol>
                <a:gridCol w="985331">
                  <a:extLst>
                    <a:ext uri="{9D8B030D-6E8A-4147-A177-3AD203B41FA5}">
                      <a16:colId xmlns:a16="http://schemas.microsoft.com/office/drawing/2014/main" val="3446533643"/>
                    </a:ext>
                  </a:extLst>
                </a:gridCol>
                <a:gridCol w="1364709">
                  <a:extLst>
                    <a:ext uri="{9D8B030D-6E8A-4147-A177-3AD203B41FA5}">
                      <a16:colId xmlns:a16="http://schemas.microsoft.com/office/drawing/2014/main" val="4268246852"/>
                    </a:ext>
                  </a:extLst>
                </a:gridCol>
                <a:gridCol w="749841">
                  <a:extLst>
                    <a:ext uri="{9D8B030D-6E8A-4147-A177-3AD203B41FA5}">
                      <a16:colId xmlns:a16="http://schemas.microsoft.com/office/drawing/2014/main" val="3107417321"/>
                    </a:ext>
                  </a:extLst>
                </a:gridCol>
                <a:gridCol w="1487790">
                  <a:extLst>
                    <a:ext uri="{9D8B030D-6E8A-4147-A177-3AD203B41FA5}">
                      <a16:colId xmlns:a16="http://schemas.microsoft.com/office/drawing/2014/main" val="3635543377"/>
                    </a:ext>
                  </a:extLst>
                </a:gridCol>
              </a:tblGrid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Liczba firm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83219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187713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907278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740396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013241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77524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Przychody ze sprzedaży 2023 mld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321369"/>
                  </a:ext>
                </a:extLst>
              </a:tr>
              <a:tr h="402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98,5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587,6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751,5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244,1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1 681,7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348507"/>
                  </a:ext>
                </a:extLst>
              </a:tr>
              <a:tr h="402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65,1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409,4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710,7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651,0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1 836,3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02105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163,6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997,1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1 462,2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895,2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3 518,0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778522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354719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l-PL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460378"/>
                  </a:ext>
                </a:extLst>
              </a:tr>
              <a:tr h="2224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Eksport 2023 mld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722516"/>
                  </a:ext>
                </a:extLst>
              </a:tr>
              <a:tr h="402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Zagraniczne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34,0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234,9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209,3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104,1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582,4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658973"/>
                  </a:ext>
                </a:extLst>
              </a:tr>
              <a:tr h="402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Krajowe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18,8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75,9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184,6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40,8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320,1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195592"/>
                  </a:ext>
                </a:extLst>
              </a:tr>
              <a:tr h="402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Razem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52,9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310,7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393,9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144,9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l-PL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902,5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932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53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az 9">
            <a:extLst>
              <a:ext uri="{FF2B5EF4-FFF2-40B4-BE49-F238E27FC236}">
                <a16:creationId xmlns:a16="http://schemas.microsoft.com/office/drawing/2014/main" id="{919BCDBF-5707-331D-D765-93AD7693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97" y="0"/>
            <a:ext cx="5867711" cy="607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52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ED70-B8F3-E528-8890-10BC2879D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EF589B-016A-70D0-13F4-07D2125C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332"/>
            <a:ext cx="10515600" cy="663115"/>
          </a:xfrm>
        </p:spPr>
        <p:txBody>
          <a:bodyPr>
            <a:normAutofit fontScale="90000"/>
          </a:bodyPr>
          <a:lstStyle/>
          <a:p>
            <a:pPr marL="457200" marR="0" lvl="1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31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3. Typy odporności organizacyjnej na kryzys pandemii COVID-19 - wnioski</a:t>
            </a:r>
            <a:b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endParaRPr kumimoji="0" lang="pl-PL" sz="28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7D8B2A9-8E3F-2565-58BA-5EB06C903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379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Rozkład normalny (krzywa Gaussa) przeważają firmy o umiarkowanie negatywnej i umiarkowanie pozytywnej odporności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10% firm to gazele w trakcie COVID-19. Nawet jeśli 8,5% średniorocznego wzrostu przypada na inflację, 11,5% średniorocznego wzrostu w ciągu 4 to imponujący wynik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Firmy krajowe bardziej odporne niż firmy zagraniczne. Wyraźnie dominują wśród gazel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l-PL" dirty="0"/>
              <a:t> Sytuacja polskiej filii międzynarodowej korporacji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może korzystać z zasobów i wsparcia globalnej struktury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odczuwa turbulencje na jakie narażona jest globalna struktura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l-PL" dirty="0"/>
              <a:t> ten drugi efekt wydaje się trudniejszy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6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A6B3-0C1A-E527-F444-0CF30C06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91C262-29FF-ABE4-74AF-C5D47AE4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225"/>
          </a:xfrm>
        </p:spPr>
        <p:txBody>
          <a:bodyPr>
            <a:normAutofit/>
          </a:bodyPr>
          <a:lstStyle/>
          <a:p>
            <a:pPr marL="457200" lvl="1"/>
            <a:r>
              <a:rPr lang="pl-PL" sz="2800" b="1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4. </a:t>
            </a:r>
            <a:r>
              <a:rPr lang="pl-PL" sz="2800" b="1" dirty="0">
                <a:solidFill>
                  <a:schemeClr val="accent2">
                    <a:lumMod val="75000"/>
                  </a:schemeClr>
                </a:solidFill>
              </a:rPr>
              <a:t>Trajektorie wzrostu firm w dobie globalnych turbulencji</a:t>
            </a:r>
            <a:endParaRPr kumimoji="0" lang="pl-PL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46D07C-AE07-16FE-C2A1-F40EF153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608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Zarządzanie wzrostem istotne w przypadku firm nastawionych na dynamiczny rozwój w dłuższej perspektywie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Negatywne skutki niekontrolowanego wzrostu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Należy unikać lat spadkowych i znaczących odchyleń od długoletniego trendu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 Zarządzanie trajektorią wzrostu szczególnie istotne w dobie globalnych turbulencji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Jaki jest związek między trajektorią wzrostu a odpornością na pandemię COVID-19?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dirty="0"/>
              <a:t> Analiza zmian rok do roku w cenach stałych</a:t>
            </a:r>
          </a:p>
        </p:txBody>
      </p:sp>
    </p:spTree>
    <p:extLst>
      <p:ext uri="{BB962C8B-B14F-4D97-AF65-F5344CB8AC3E}">
        <p14:creationId xmlns:p14="http://schemas.microsoft.com/office/powerpoint/2010/main" val="35740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E2F7-822F-7620-79B3-A36C5976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753C5D-4EE5-C26E-7671-3C0812AE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332"/>
            <a:ext cx="10515600" cy="663115"/>
          </a:xfrm>
        </p:spPr>
        <p:txBody>
          <a:bodyPr>
            <a:normAutofit fontScale="90000"/>
          </a:bodyPr>
          <a:lstStyle/>
          <a:p>
            <a:pPr marL="457200" marR="0" lvl="1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l-PL" sz="28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Trajektorie wzrostu/spadku sprzedaży w cenach stałych w latach 2019-2023 według typów odporności</a:t>
            </a:r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22DFF388-CB4A-9010-48F2-4CEC8A267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499" y="1574025"/>
            <a:ext cx="6589264" cy="45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865-202C-C31D-774F-BCDB35DA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ACFB89-884E-60B0-4158-EC8F192E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31" y="365125"/>
            <a:ext cx="10872169" cy="1038225"/>
          </a:xfrm>
        </p:spPr>
        <p:txBody>
          <a:bodyPr>
            <a:normAutofit/>
          </a:bodyPr>
          <a:lstStyle/>
          <a:p>
            <a:pPr marL="457200" lvl="1"/>
            <a:r>
              <a:rPr lang="pl-PL" sz="2800" b="1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4. </a:t>
            </a:r>
            <a:r>
              <a:rPr lang="pl-PL" sz="2800" b="1" dirty="0">
                <a:solidFill>
                  <a:schemeClr val="accent2">
                    <a:lumMod val="75000"/>
                  </a:schemeClr>
                </a:solidFill>
              </a:rPr>
              <a:t>Trajektorie wzrostu a odporność na COVID-firm – wnioski </a:t>
            </a:r>
            <a:endParaRPr kumimoji="0" lang="pl-PL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F95E97-3921-671C-09D3-74A7CC7E0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700"/>
            <a:ext cx="10515600" cy="4640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Kluczem do zachowania odporności było utrzymanie dodatniej dynamiki sprzedaży w kluczowym roku 2020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Odbicie w latach 2021-2022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Trudność utrzymania pozytywnego trendu w 2023 wobec nadal wysokiej inflacji w tym roku (11,4%)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pl-PL" altLang="pl-PL" dirty="0"/>
              <a:t> Tylko gazele sobie z tym poradziły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115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24C46-606C-1263-6E4A-483269DA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9266679C-1700-1168-00D4-63147CED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2" y="1215956"/>
            <a:ext cx="6857998" cy="3336993"/>
          </a:xfrm>
        </p:spPr>
        <p:txBody>
          <a:bodyPr>
            <a:normAutofit/>
          </a:bodyPr>
          <a:lstStyle/>
          <a:p>
            <a:pPr algn="ctr"/>
            <a:r>
              <a:rPr lang="pl-PL" sz="3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Pytania, dyskusja</a:t>
            </a:r>
            <a:endParaRPr lang="pl-PL" sz="3600" i="1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Obraz 1" descr="Obraz zawierający zrzut ekranu, Grafika, Czcionka, projekt graficzny&#10;&#10;Opis wygenerowany automatycznie">
            <a:extLst>
              <a:ext uri="{FF2B5EF4-FFF2-40B4-BE49-F238E27FC236}">
                <a16:creationId xmlns:a16="http://schemas.microsoft.com/office/drawing/2014/main" id="{FFB8EC74-9A8C-8531-0AF0-437E7E80D6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66" y="359880"/>
            <a:ext cx="673341" cy="856076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EC2B67DB-FDEE-4742-D2B4-F9BB8BA2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6546" y="564182"/>
            <a:ext cx="1523017" cy="447471"/>
          </a:xfrm>
          <a:prstGeom prst="rect">
            <a:avLst/>
          </a:prstGeom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05FFB16B-F393-8A4E-7202-CCDE2849DBA5}"/>
              </a:ext>
            </a:extLst>
          </p:cNvPr>
          <p:cNvCxnSpPr/>
          <p:nvPr/>
        </p:nvCxnSpPr>
        <p:spPr>
          <a:xfrm>
            <a:off x="1235676" y="359880"/>
            <a:ext cx="0" cy="85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5392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543412-5ade-481b-8e1c-5482d6b2f492">
      <Terms xmlns="http://schemas.microsoft.com/office/infopath/2007/PartnerControls"/>
    </lcf76f155ced4ddcb4097134ff3c332f>
    <TaxCatchAll xmlns="e5e97e90-43f6-4a92-be9d-6dcf1e53551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8BEFE3277A8C54FB1ED9FD83A757ADB" ma:contentTypeVersion="16" ma:contentTypeDescription="Utwórz nowy dokument." ma:contentTypeScope="" ma:versionID="b91e444bf09d097b0a4245f61c1588b0">
  <xsd:schema xmlns:xsd="http://www.w3.org/2001/XMLSchema" xmlns:xs="http://www.w3.org/2001/XMLSchema" xmlns:p="http://schemas.microsoft.com/office/2006/metadata/properties" xmlns:ns2="8a543412-5ade-481b-8e1c-5482d6b2f492" xmlns:ns3="e5e97e90-43f6-4a92-be9d-6dcf1e535517" targetNamespace="http://schemas.microsoft.com/office/2006/metadata/properties" ma:root="true" ma:fieldsID="7c579391e1eef2bb2c6434237f5a4d68" ns2:_="" ns3:_="">
    <xsd:import namespace="8a543412-5ade-481b-8e1c-5482d6b2f492"/>
    <xsd:import namespace="e5e97e90-43f6-4a92-be9d-6dcf1e5355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43412-5ade-481b-8e1c-5482d6b2f4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Tagi obrazów" ma:readOnly="false" ma:fieldId="{5cf76f15-5ced-4ddc-b409-7134ff3c332f}" ma:taxonomyMulti="true" ma:sspId="62f00050-6f92-4a47-8685-96d6877a5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97e90-43f6-4a92-be9d-6dcf1e53551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ae02345-ad88-4113-9ddf-ea56e3b31c44}" ma:internalName="TaxCatchAll" ma:showField="CatchAllData" ma:web="e5e97e90-43f6-4a92-be9d-6dcf1e5355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9ECE49-CF73-47B6-A79E-D3D608A2F9A6}">
  <ds:schemaRefs>
    <ds:schemaRef ds:uri="http://schemas.microsoft.com/office/2006/metadata/properties"/>
    <ds:schemaRef ds:uri="http://schemas.microsoft.com/office/infopath/2007/PartnerControls"/>
    <ds:schemaRef ds:uri="8a543412-5ade-481b-8e1c-5482d6b2f492"/>
    <ds:schemaRef ds:uri="e5e97e90-43f6-4a92-be9d-6dcf1e535517"/>
  </ds:schemaRefs>
</ds:datastoreItem>
</file>

<file path=customXml/itemProps2.xml><?xml version="1.0" encoding="utf-8"?>
<ds:datastoreItem xmlns:ds="http://schemas.openxmlformats.org/officeDocument/2006/customXml" ds:itemID="{B93D3794-388B-453C-B4BC-C6B898C3AA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F93231-7296-4B05-9230-AACD14F7A5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43412-5ade-481b-8e1c-5482d6b2f492"/>
    <ds:schemaRef ds:uri="e5e97e90-43f6-4a92-be9d-6dcf1e5355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4744</TotalTime>
  <Words>2015</Words>
  <Application>Microsoft Macintosh PowerPoint</Application>
  <PresentationFormat>Widescreen</PresentationFormat>
  <Paragraphs>365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Aptos</vt:lpstr>
      <vt:lpstr>Open Sans</vt:lpstr>
      <vt:lpstr>Aptos Narrow</vt:lpstr>
      <vt:lpstr>Wingdings</vt:lpstr>
      <vt:lpstr>Open Sans Semibold</vt:lpstr>
      <vt:lpstr>Motyw pakietu Office</vt:lpstr>
      <vt:lpstr>Projekt analityczny Wprowadzenie </vt:lpstr>
      <vt:lpstr>Założenia i cele projektu</vt:lpstr>
      <vt:lpstr>Projekt badawczy GRIP: Wzrost, internacjonalizacja a wyniki finansowe czołówki polskich przedsiębiorstw</vt:lpstr>
      <vt:lpstr>Projekt GRIP: Pytania badawcze</vt:lpstr>
      <vt:lpstr>Projekt GRIP: Spodziewane efekty</vt:lpstr>
      <vt:lpstr>Założenia i cele, zakładane efekty kształcenia</vt:lpstr>
      <vt:lpstr>Projekt analityczny – założenia realizacyjne</vt:lpstr>
      <vt:lpstr>  Projekt analityczny Dynamika wzrostu i internacjonalizacja polskich przedsiębiorstw 2019 - 2023  </vt:lpstr>
      <vt:lpstr>Zakres analizy</vt:lpstr>
      <vt:lpstr>1. Poziom internacjonalizacji a zaangażowanie międzynarodowe</vt:lpstr>
      <vt:lpstr>1. Liczba firm, przychody ze sprzedaży i wartość eksportu według poziomu intensywności i własnośći firm </vt:lpstr>
      <vt:lpstr>PowerPoint Presentation</vt:lpstr>
      <vt:lpstr>1. Poziom internacjonalizacji a zaangażowanie międzynarodowe – wnioski z analizy</vt:lpstr>
      <vt:lpstr>Podstawowe wskaźniki ekonomiczno-finansowe</vt:lpstr>
      <vt:lpstr>Podstawowe wskaźniki ekonomiczno-finansowe w 2023 r. (wielkości średnie)</vt:lpstr>
      <vt:lpstr>2. Porównanie potencjału ekonomicznego firm z kapitałem krajowym i zagranicznym – wnioski z analizy</vt:lpstr>
      <vt:lpstr>2. Porównanie potencjału ekonomicznego firm z kapitałem krajowym i zagranicznym – wnioski z analizy</vt:lpstr>
      <vt:lpstr>3. Odporność firm na pandemię COVID-19 </vt:lpstr>
      <vt:lpstr>Badania nad firmami dynamicznymi (gazelami)</vt:lpstr>
      <vt:lpstr>Typy odporności organizacyjnej na kryzys pandemii COVID-19 2019-2023 </vt:lpstr>
      <vt:lpstr>Struktura firm  według typów odporności na skutki COVID-19 (dane 2023) </vt:lpstr>
      <vt:lpstr>PowerPoint Presentation</vt:lpstr>
      <vt:lpstr>3. Typy odporności organizacyjnej na kryzys pandemii COVID-19 - wnioski </vt:lpstr>
      <vt:lpstr>4. Trajektorie wzrostu firm w dobie globalnych turbulencji</vt:lpstr>
      <vt:lpstr>Trajektorie wzrostu/spadku sprzedaży w cenach stałych w latach 2019-2023 według typów odporności</vt:lpstr>
      <vt:lpstr>4. Trajektorie wzrostu a odporność na COVID-firm – wnioski </vt:lpstr>
      <vt:lpstr>Pytania, dyskusja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Burchuladze-Sobczyńska</dc:creator>
  <cp:lastModifiedBy>Adam Pietruszewski</cp:lastModifiedBy>
  <cp:revision>51</cp:revision>
  <dcterms:created xsi:type="dcterms:W3CDTF">2024-10-15T11:10:46Z</dcterms:created>
  <dcterms:modified xsi:type="dcterms:W3CDTF">2025-12-10T17:44:45Z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0x01010058BEFE3277A8C54FB1ED9FD83A757ADB</vt:lpwstr>
  </property>
</Properties>
</file>